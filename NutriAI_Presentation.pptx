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10/13/2026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Title slide. NutriAI is a full-stack Agentic AI application powered by IBM Granite LLM. It generates personalized nutrition plans based on user profile, medical history, and location.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NutriAI collects user profile data including name, age, diet preferences, medical history (12 conditions), and location. It uses IBM Granite LLM to generate personalized plans. Works in Demo Mode without IBM credentials.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5-phase Agentic AI SDLC: Phase 1 Perceive - validate input and user profile. Phase 2 Reason - route to the right tool. Phase 3 Act - call IBM Granite LLM with structured prompts. Phase 4 Reflect - apply guardrails and safety checks. Phase 5 Respond - return HAM-toned, disclaimer-appended response.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Three-layer architecture: Frontend SPA communicates with Flask REST API. Flask routes requests to the Agentic AI Engine which orchestrates guardrails.py, granite_client.py, and plan_saver.py.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granite_client.py wraps the IBM watsonx.ai REST API. It caches the IAM bearer token and auto-refreshes it 60 seconds before expiry. If no credentials are configured, the app falls back to a built-in demo knowledge base.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agent uses intent-based routing to select one of 4 tools. Tool 1 generates full plans. Tool 2 answers Q&amp;A with memory. Tool 3 gives local food tips. Tool 4 calculates BMI. The router is in agent.py _route_to_tool().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guardrails.py implements all safety layers. Input screening uses regex patterns to block 7 categories of harmful content. Output screening prevents 4 types of dangerous medical claims. HAM tone is enforced via apply_ham_tone(). Medical disclaimer is always appended via add_disclaimer().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SPA has 5 tabs. Home tab has a hero banner, feature grid, and SDLC display. Profile tab collects all user data. Plan tab renders the IBM Granite generated plan in Markdown. Chat tab provides real-time agentic Q&amp;A. Saved Plans tab shows all downloaded .md files.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User profile collection has 4 sections. Medical history supports 12 pre-defined conditions plus a free-text field. Location drives culturally relevant food recommendations. All data is validated by validate_user_profile() in guardrails.py before any LLM call.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Sample profile from sample_plan_output.md. Priya Sharma, 32, vegetarian, Mumbai. Medical conditions: Type 2 Diabetes and High Blood Pressure. Goal: manage blood sugar. BMI 25.9 - overweight category. This profile is passed to IBM Granite as structured context.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Daily targets from the sample_plan_output.md. Sodium is the most critical constraint for hypertension - kept below 1,500 mg/day following DASH Diet principles. Carbs are restricted to complex, low-GI sources only.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Complete daily meal plan from sample_plan_output.md for Priya Sharma. 5-6 small meals throughout the day to maintain stable blood sugar. All meals are vegetarian, low-GI, and low-sodium.</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Condition-specific guidelines directly from sample_plan_output.md. Diabetes guidelines focus on GI control and meal timing. Hypertension guidelines follow DASH Diet. These are injected into the IBM Granite prompt as context-specific instructions.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Foods list directly from sample_plan_output.md. The recommend list focuses on low-GI, high-fiber, low-sodium foods. The avoid list covers high-GI foods, high-sodium processed foods, and deep-fried items - all harmful for diabetes and hypertension.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Weekly shopping list from sample_plan_output.md. Culturally specific to Mumbai, India. IBM Granite generates locally relevant recommendations — different cities/countries get different food suggestions.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app.py provides 6 REST endpoints. The generate-plan endpoint runs the full agentic loop and saves the plan to disk. The chat endpoint maintains session state. All endpoints validate inputs and return structured JSON responses.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plan_saver.py saves every generated plan as a Markdown file. The file name includes the user name and timestamp. It has 4 sections: header with profile, macro targets, full meal plan, and medical guidelines plus shopping list. Medical disclaimer is always auto-appended by guardrails.py.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Repository deployed to github.com/dixit1948/Nutrition-Agentic-AI with 17 files. run.bat handles full setup including Python installation via winget. IBM credentials are optional — the app runs in Demo Mode without them.</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Responsible AI principles: Transparency - users know it's AI. Privacy - no PII stored beyond session. Accountability - all plans saved with metadata. The medical disclaimer is auto-appended to every single plan and response by add_disclaimer() in guardrails.py.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Thank you slide. Summary of what NutriAI delivers: Agentic AI with IBM Granite, 5-phase SDLC, 4 tools, HAM principles, guardrails, cultural awareness, .md plan saving, and GitHub deployment.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idx="1"/>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idx="1"/>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idx="1"/>
          </p:nvPr>
        </p:nvSpPr>
        <p:spPr>
          <a:xfrm>
            <a:off x="838200" y="1825625"/>
            <a:ext cx="5181600" cy="4351338"/>
          </a:xfrm>
        </p:spPr>
        <p:txBody>
          <a:bodyPr/>
          <a:lstStyle/>
          <a:p>
            <a:endParaRPr lang="en-US"/>
          </a:p>
        </p:txBody>
      </p:sp>
      <p:sp>
        <p:nvSpPr>
          <p:cNvPr id="4" name="Content Right"/>
          <p:cNvSpPr>
            <a:spLocks noGrp="1"/>
          </p:cNvSpPr>
          <p:nvPr>
            <p:ph type="body" idx="2"/>
          </p:nvPr>
        </p:nvSpPr>
        <p:spPr>
          <a:xfrm>
            <a:off x="6172200" y="1825625"/>
            <a:ext cx="5181600" cy="4351338"/>
          </a:xfrm>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
        <p:cNvGrpSpPr/>
        <p:nvPr/>
      </p:nvGrpSpPr>
      <p:grpSpPr>
        <a:xfrm>
          <a:off x="0" y="0"/>
          <a:ext cx="0" cy="0"/>
          <a:chOff x="0" y="0"/>
          <a:chExt cx="0" cy="0"/>
        </a:xfrm>
      </p:grpSpPr>
      <p:sp>
        <p:nvSpPr>
          <p:cNvPr id="100000" name="TopAccent"/>
          <p:cNvSpPr txBox="1"/>
          <p:nvPr/>
        </p:nvSpPr>
        <p:spPr>
          <a:xfrm>
            <a:off x="0" y="0"/>
            <a:ext cx="12193200" cy="180000"/>
          </a:xfrm>
          <a:prstGeom prst="rect">
            <a:avLst/>
          </a:prstGeom>
          <a:solidFill>
            <a:srgbClr val="4ADE80"/>
          </a:solidFill>
        </p:spPr>
        <p:txBody>
          <a:bodyPr/>
          <a:lstStyle/>
          <a:p>
            <a:endParaRPr lang="en-US">
              <a:solidFill>
                <a:srgbClr val="4ADE80"/>
              </a:solidFill>
            </a:endParaRPr>
          </a:p>
        </p:txBody>
      </p:sp>
      <p:sp>
        <p:nvSpPr>
          <p:cNvPr id="100001" name="BottomAccent"/>
          <p:cNvSpPr txBox="1"/>
          <p:nvPr/>
        </p:nvSpPr>
        <p:spPr>
          <a:xfrm>
            <a:off x="0" y="6674400"/>
            <a:ext cx="12193200" cy="165600"/>
          </a:xfrm>
          <a:prstGeom prst="rect">
            <a:avLst/>
          </a:prstGeom>
          <a:solidFill>
            <a:srgbClr val="4ADE80"/>
          </a:solidFill>
        </p:spPr>
        <p:txBody>
          <a:bodyPr/>
          <a:lstStyle/>
          <a:p>
            <a:endParaRPr lang="en-US">
              <a:solidFill>
                <a:srgbClr val="4ADE80"/>
              </a:solidFill>
            </a:endParaRPr>
          </a:p>
        </p:txBody>
      </p:sp>
      <p:sp>
        <p:nvSpPr>
          <p:cNvPr id="100002" name="Icon"/>
          <p:cNvSpPr txBox="1"/>
          <p:nvPr/>
        </p:nvSpPr>
        <p:spPr>
          <a:xfrm>
            <a:off x="4860000" y="540000"/>
            <a:ext cx="2520000" cy="1260000"/>
          </a:xfrm>
          <a:prstGeom prst="rect">
            <a:avLst/>
          </a:prstGeom>
          <a:noFill/>
        </p:spPr>
        <p:txBody>
          <a:bodyPr/>
          <a:lstStyle/>
          <a:p>
            <a:pPr algn="ctr"/>
            <a:r>
              <a:rPr lang="en-US" sz="6400">
                <a:solidFill>
                  <a:srgbClr val="FFFFFF"/>
                </a:solidFill>
              </a:rPr>
              <a:t>🥗</a:t>
            </a:r>
          </a:p>
        </p:txBody>
      </p:sp>
      <p:sp>
        <p:nvSpPr>
          <p:cNvPr id="100003" name="Title"/>
          <p:cNvSpPr txBox="1"/>
          <p:nvPr/>
        </p:nvSpPr>
        <p:spPr>
          <a:xfrm>
            <a:off x="720000" y="1872000"/>
            <a:ext cx="10800000" cy="1080000"/>
          </a:xfrm>
          <a:prstGeom prst="rect">
            <a:avLst/>
          </a:prstGeom>
          <a:noFill/>
        </p:spPr>
        <p:txBody>
          <a:bodyPr/>
          <a:lstStyle/>
          <a:p>
            <a:pPr algn="ctr"/>
            <a:r>
              <a:rPr lang="en-US" sz="6000" b="1">
                <a:solidFill>
                  <a:srgbClr val="86EFAC"/>
                </a:solidFill>
                <a:latin typeface="Calibri"/>
                <a:ea typeface="Calibri"/>
              </a:rPr>
              <a:t>NutriAI</a:t>
            </a:r>
          </a:p>
        </p:txBody>
      </p:sp>
      <p:sp>
        <p:nvSpPr>
          <p:cNvPr id="100004" name="Subtitle"/>
          <p:cNvSpPr txBox="1"/>
          <p:nvPr/>
        </p:nvSpPr>
        <p:spPr>
          <a:xfrm>
            <a:off x="720000" y="3060000"/>
            <a:ext cx="10800000" cy="540000"/>
          </a:xfrm>
          <a:prstGeom prst="rect">
            <a:avLst/>
          </a:prstGeom>
          <a:noFill/>
        </p:spPr>
        <p:txBody>
          <a:bodyPr/>
          <a:lstStyle/>
          <a:p>
            <a:pPr algn="ctr"/>
            <a:r>
              <a:rPr lang="en-US" sz="3000" b="0">
                <a:solidFill>
                  <a:srgbClr val="A7F3D0"/>
                </a:solidFill>
              </a:rPr>
              <a:t>IBM Granite Nutrition Agent</a:t>
            </a:r>
          </a:p>
        </p:txBody>
      </p:sp>
      <p:sp>
        <p:nvSpPr>
          <p:cNvPr id="100005" name="Tagline"/>
          <p:cNvSpPr txBox="1"/>
          <p:nvPr/>
        </p:nvSpPr>
        <p:spPr>
          <a:xfrm>
            <a:off x="720000" y="3744000"/>
            <a:ext cx="10800000" cy="432000"/>
          </a:xfrm>
          <a:prstGeom prst="rect">
            <a:avLst/>
          </a:prstGeom>
          <a:noFill/>
        </p:spPr>
        <p:txBody>
          <a:bodyPr/>
          <a:lstStyle/>
          <a:p>
            <a:pPr algn="ctr"/>
            <a:r>
              <a:rPr lang="en-US" sz="1700">
                <a:solidFill>
                  <a:srgbClr val="6EE7B7"/>
                </a:solidFill>
              </a:rPr>
              <a:t>Personalized AI-Powered Nutrition Planning | Agentic AI | HAM Principles | AI Ethics</a:t>
            </a:r>
          </a:p>
        </p:txBody>
      </p:sp>
      <p:sp>
        <p:nvSpPr>
          <p:cNvPr id="100006" name="Tech"/>
          <p:cNvSpPr txBox="1"/>
          <p:nvPr/>
        </p:nvSpPr>
        <p:spPr>
          <a:xfrm>
            <a:off x="720000" y="4320000"/>
            <a:ext cx="10800000" cy="360000"/>
          </a:xfrm>
          <a:prstGeom prst="rect">
            <a:avLst/>
          </a:prstGeom>
          <a:noFill/>
        </p:spPr>
        <p:txBody>
          <a:bodyPr/>
          <a:lstStyle/>
          <a:p>
            <a:pPr algn="ctr"/>
            <a:r>
              <a:rPr lang="en-US" sz="1500">
                <a:solidFill>
                  <a:srgbClr val="D1FAE5"/>
                </a:solidFill>
              </a:rPr>
              <a:t>Flask  |  Python  |  IBM watsonx.ai  |  HTML5  |  GitHub</a:t>
            </a:r>
          </a:p>
        </p:txBody>
      </p:sp>
      <p:sp>
        <p:nvSpPr>
          <p:cNvPr id="100007" name="Repo"/>
          <p:cNvSpPr txBox="1"/>
          <p:nvPr/>
        </p:nvSpPr>
        <p:spPr>
          <a:xfrm>
            <a:off x="720000" y="4860000"/>
            <a:ext cx="10800000" cy="324000"/>
          </a:xfrm>
          <a:prstGeom prst="rect">
            <a:avLst/>
          </a:prstGeom>
          <a:noFill/>
        </p:spPr>
        <p:txBody>
          <a:bodyPr/>
          <a:lstStyle/>
          <a:p>
            <a:pPr algn="ctr"/>
            <a:r>
              <a:rPr lang="en-US" sz="1400">
                <a:solidFill>
                  <a:srgbClr val="4ADE80"/>
                </a:solidFill>
              </a:rPr>
              <a:t>github.com/dixit1948/Nutrition-Agentic-AI</a:t>
            </a:r>
          </a:p>
        </p:txBody>
      </p:sp>
      <p:sp>
        <p:nvSpPr>
          <p:cNvPr id="100008" name="Footer"/>
          <p:cNvSpPr txBox="1"/>
          <p:nvPr/>
        </p:nvSpPr>
        <p:spPr>
          <a:xfrm>
            <a:off x="0" y="6408000"/>
            <a:ext cx="12193200" cy="252000"/>
          </a:xfrm>
          <a:prstGeom prst="rect">
            <a:avLst/>
          </a:prstGeom>
          <a:solidFill>
            <a:srgbClr val="065F46"/>
          </a:solidFill>
        </p:spPr>
        <p:txBody>
          <a:bodyPr/>
          <a:lstStyle/>
          <a:p>
            <a:pPr algn="ctr"/>
            <a:r>
              <a:rPr lang="en-US" sz="1200">
                <a:solidFill>
                  <a:srgbClr val="6EE7B7"/>
                </a:solidFill>
              </a:rPr>
              <a:t>NutriAI — IBM Granite Nutrition Agent  |  Agentic AI SDLC</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009"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010" name="SlideTitle"/>
          <p:cNvSpPr txBox="1"/>
          <p:nvPr/>
        </p:nvSpPr>
        <p:spPr>
          <a:xfrm>
            <a:off x="288000" y="72000"/>
            <a:ext cx="11520000" cy="432000"/>
          </a:xfrm>
          <a:prstGeom prst="rect">
            <a:avLst/>
          </a:prstGeom>
          <a:noFill/>
        </p:spPr>
        <p:txBody>
          <a:bodyPr/>
          <a:lstStyle/>
          <a:p>
            <a:r>
              <a:rPr lang="en-US" sz="2600" b="1">
                <a:solidFill>
                  <a:srgbClr val="FFFFFF"/>
                </a:solidFill>
              </a:rPr>
              <a:t>Slide 2: Project Overview</a:t>
            </a:r>
          </a:p>
        </p:txBody>
      </p:sp>
      <p:sp>
        <p:nvSpPr>
          <p:cNvPr id="100011" name="WhatIs"/>
          <p:cNvSpPr txBox="1"/>
          <p:nvPr/>
        </p:nvSpPr>
        <p:spPr>
          <a:xfrm>
            <a:off x="360000" y="720000"/>
            <a:ext cx="11160000" cy="324000"/>
          </a:xfrm>
          <a:prstGeom prst="rect">
            <a:avLst/>
          </a:prstGeom>
          <a:noFill/>
        </p:spPr>
        <p:txBody>
          <a:bodyPr/>
          <a:lstStyle/>
          <a:p>
            <a:r>
              <a:rPr lang="en-US" sz="2200" b="1">
                <a:solidFill>
                  <a:srgbClr val="064E3B"/>
                </a:solidFill>
              </a:rPr>
              <a:t>What is NutriAI?</a:t>
            </a:r>
          </a:p>
        </p:txBody>
      </p:sp>
      <p:sp>
        <p:nvSpPr>
          <p:cNvPr id="100012" name="Desc"/>
          <p:cNvSpPr txBox="1"/>
          <p:nvPr/>
        </p:nvSpPr>
        <p:spPr>
          <a:xfrm>
            <a:off x="360000" y="1080000"/>
            <a:ext cx="11160000" cy="720000"/>
          </a:xfrm>
          <a:prstGeom prst="rect">
            <a:avLst/>
          </a:prstGeom>
          <a:noFill/>
        </p:spPr>
        <p:txBody>
          <a:bodyPr/>
          <a:lstStyle/>
          <a:p>
            <a:r>
              <a:rPr lang="en-US" sz="1700">
                <a:solidFill>
                  <a:srgbClr val="1E293B"/>
                </a:solidFill>
              </a:rPr>
              <a:t>NutriAI is a full-stack Agentic AI web application that uses IBM Granite LLM to generate science-backed, culturally aware, and medically mindful personalized nutrition plans tailored to each individual user.</a:t>
            </a:r>
          </a:p>
        </p:txBody>
      </p:sp>
      <p:sp>
        <p:nvSpPr>
          <p:cNvPr id="100013" name="Box1"/>
          <p:cNvSpPr txBox="1"/>
          <p:nvPr/>
        </p:nvSpPr>
        <p:spPr>
          <a:xfrm>
            <a:off x="360000" y="1908000"/>
            <a:ext cx="5220000" cy="1080000"/>
          </a:xfrm>
          <a:prstGeom prst="rect">
            <a:avLst/>
          </a:prstGeom>
          <a:solidFill>
            <a:srgbClr val="ECFDF5"/>
          </a:solidFill>
        </p:spPr>
        <p:txBody>
          <a:bodyPr/>
          <a:lstStyle/>
          <a:p>
            <a:r>
              <a:rPr lang="en-US" sz="1400" b="0">
                <a:solidFill>
                  <a:srgbClr val="1E293B"/>
                </a:solidFill>
              </a:rPr>
              <a:t>🤖  IBM Granite LLM</a:t>
            </a:r>
          </a:p>
          <a:p>
            <a:r>
              <a:rPr lang="en-US" sz="1400" b="0">
                <a:solidFill>
                  <a:srgbClr val="1E293B"/>
                </a:solidFill>
              </a:rPr>
              <a:t>Enterprise AI via watsonx.ai REST API with IAM token caching and demo fallback mode</a:t>
            </a:r>
          </a:p>
        </p:txBody>
      </p:sp>
      <p:sp>
        <p:nvSpPr>
          <p:cNvPr id="100014" name="Box2"/>
          <p:cNvSpPr txBox="1"/>
          <p:nvPr/>
        </p:nvSpPr>
        <p:spPr>
          <a:xfrm>
            <a:off x="6120000" y="1908000"/>
            <a:ext cx="5580000" cy="1080000"/>
          </a:xfrm>
          <a:prstGeom prst="rect">
            <a:avLst/>
          </a:prstGeom>
          <a:solidFill>
            <a:srgbClr val="ECFDF5"/>
          </a:solidFill>
        </p:spPr>
        <p:txBody>
          <a:bodyPr/>
          <a:lstStyle/>
          <a:p>
            <a:r>
              <a:rPr lang="en-US" sz="1400">
                <a:solidFill>
                  <a:srgbClr val="1E293B"/>
                </a:solidFill>
              </a:rPr>
              <a:t>🔄  Agentic AI Architecture</a:t>
            </a:r>
          </a:p>
          <a:p>
            <a:r>
              <a:rPr lang="en-US" sz="1400">
                <a:solidFill>
                  <a:srgbClr val="1E293B"/>
                </a:solidFill>
              </a:rPr>
              <a:t>Percieve → Reason → Act → Reflect → Respond — 5-phase agentic loop with 4 tools</a:t>
            </a:r>
          </a:p>
        </p:txBody>
      </p:sp>
      <p:sp>
        <p:nvSpPr>
          <p:cNvPr id="100015" name="Box3"/>
          <p:cNvSpPr txBox="1"/>
          <p:nvPr/>
        </p:nvSpPr>
        <p:spPr>
          <a:xfrm>
            <a:off x="360000" y="3240000"/>
            <a:ext cx="5220000" cy="1008000"/>
          </a:xfrm>
          <a:prstGeom prst="rect">
            <a:avLst/>
          </a:prstGeom>
          <a:solidFill>
            <a:srgbClr val="ECFDF5"/>
          </a:solidFill>
        </p:spPr>
        <p:txBody>
          <a:bodyPr/>
          <a:lstStyle/>
          <a:p>
            <a:r>
              <a:rPr lang="en-US" sz="1400">
                <a:solidFill>
                  <a:srgbClr val="1E293B"/>
                </a:solidFill>
              </a:rPr>
              <a:t>🛡️  AI Ethics &amp; Guardrails</a:t>
            </a:r>
          </a:p>
          <a:p>
            <a:r>
              <a:rPr lang="en-US" sz="1400">
                <a:solidFill>
                  <a:srgbClr val="1E293B"/>
                </a:solidFill>
              </a:rPr>
              <a:t>HAM principles, harmful content filtering, medical disclaimers, bias mitigation</a:t>
            </a:r>
          </a:p>
        </p:txBody>
      </p:sp>
      <p:sp>
        <p:nvSpPr>
          <p:cNvPr id="100016" name="Box4"/>
          <p:cNvSpPr txBox="1"/>
          <p:nvPr/>
        </p:nvSpPr>
        <p:spPr>
          <a:xfrm>
            <a:off x="6120000" y="3240000"/>
            <a:ext cx="5580000" cy="1008000"/>
          </a:xfrm>
          <a:prstGeom prst="rect">
            <a:avLst/>
          </a:prstGeom>
          <a:solidFill>
            <a:srgbClr val="ECFDF5"/>
          </a:solidFill>
        </p:spPr>
        <p:txBody>
          <a:bodyPr/>
          <a:lstStyle/>
          <a:p>
            <a:r>
              <a:rPr lang="en-US" sz="1400">
                <a:solidFill>
                  <a:srgbClr val="1E293B"/>
                </a:solidFill>
              </a:rPr>
              <a:t>💾  Plan Persistence</a:t>
            </a:r>
          </a:p>
          <a:p>
            <a:r>
              <a:rPr lang="en-US" sz="1400">
                <a:solidFill>
                  <a:srgbClr val="1E293B"/>
                </a:solidFill>
              </a:rPr>
              <a:t>Every generated plan saved as Markdown (.md) file with full user profile metadata</a:t>
            </a:r>
          </a:p>
        </p:txBody>
      </p:sp>
      <p:sp>
        <p:nvSpPr>
          <p:cNvPr id="100017"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018"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019" name="SlideTitle"/>
          <p:cNvSpPr txBox="1"/>
          <p:nvPr/>
        </p:nvSpPr>
        <p:spPr>
          <a:xfrm>
            <a:off x="288000" y="72000"/>
            <a:ext cx="11520000" cy="432000"/>
          </a:xfrm>
          <a:prstGeom prst="rect">
            <a:avLst/>
          </a:prstGeom>
          <a:noFill/>
        </p:spPr>
        <p:txBody>
          <a:bodyPr/>
          <a:lstStyle/>
          <a:p>
            <a:r>
              <a:rPr lang="en-US" sz="2600" b="1">
                <a:solidFill>
                  <a:srgbClr val="FFFFFF"/>
                </a:solidFill>
              </a:rPr>
              <a:t>Slide 3: Agentic AI SDLC — All 5 Phases</a:t>
            </a:r>
          </a:p>
        </p:txBody>
      </p:sp>
      <p:sp>
        <p:nvSpPr>
          <p:cNvPr id="100020" name="P1"/>
          <p:cNvSpPr txBox="1"/>
          <p:nvPr/>
        </p:nvSpPr>
        <p:spPr>
          <a:xfrm>
            <a:off x="360000" y="720000"/>
            <a:ext cx="1980000" cy="3240000"/>
          </a:xfrm>
          <a:prstGeom prst="rect">
            <a:avLst/>
          </a:prstGeom>
          <a:solidFill>
            <a:srgbClr val="D1FAE5"/>
          </a:solidFill>
        </p:spPr>
        <p:txBody>
          <a:bodyPr/>
          <a:lstStyle/>
          <a:p>
            <a:pPr algn="ctr"/>
            <a:r>
              <a:rPr lang="en-US" sz="1300" b="0">
                <a:solidFill>
                  <a:srgbClr val="064E3B"/>
                </a:solidFill>
              </a:rPr>
              <a:t>Phase 1</a:t>
            </a:r>
          </a:p>
          <a:p>
            <a:pPr algn="ctr"/>
            <a:r>
              <a:rPr lang="en-US" sz="1300" b="0">
                <a:solidFill>
                  <a:srgbClr val="064E3B"/>
                </a:solidFill>
              </a:rPr>
              <a:t>PERCEIVE</a:t>
            </a:r>
          </a:p>
          <a:p>
            <a:pPr algn="ctr"/>
            <a:endParaRPr lang="en-US" sz="1300" b="0">
              <a:solidFill>
                <a:srgbClr val="064E3B"/>
              </a:solidFill>
            </a:endParaRPr>
          </a:p>
          <a:p>
            <a:pPr algn="ctr"/>
            <a:r>
              <a:rPr lang="en-US" sz="1300" b="0">
                <a:solidFill>
                  <a:srgbClr val="064E3B"/>
                </a:solidFill>
              </a:rPr>
              <a:t>Validate user input &amp; profile</a:t>
            </a:r>
          </a:p>
          <a:p>
            <a:pPr algn="ctr"/>
            <a:r>
              <a:rPr lang="en-US" sz="1300" b="0">
                <a:solidFill>
                  <a:srgbClr val="064E3B"/>
                </a:solidFill>
              </a:rPr>
              <a:t>Screen for harmful content</a:t>
            </a:r>
          </a:p>
          <a:p>
            <a:pPr algn="ctr"/>
            <a:r>
              <a:rPr lang="en-US" sz="1300" b="0">
                <a:solidFill>
                  <a:srgbClr val="064E3B"/>
                </a:solidFill>
              </a:rPr>
              <a:t>Collect structured user data</a:t>
            </a:r>
          </a:p>
        </p:txBody>
      </p:sp>
      <p:sp>
        <p:nvSpPr>
          <p:cNvPr id="100021" name="A1"/>
          <p:cNvSpPr txBox="1"/>
          <p:nvPr/>
        </p:nvSpPr>
        <p:spPr>
          <a:xfrm>
            <a:off x="2412000" y="1980000"/>
            <a:ext cx="360000" cy="360000"/>
          </a:xfrm>
          <a:prstGeom prst="rect">
            <a:avLst/>
          </a:prstGeom>
          <a:noFill/>
        </p:spPr>
        <p:txBody>
          <a:bodyPr/>
          <a:lstStyle/>
          <a:p>
            <a:pPr algn="ctr"/>
            <a:r>
              <a:rPr lang="en-US" sz="2200" b="1">
                <a:solidFill>
                  <a:srgbClr val="059669"/>
                </a:solidFill>
              </a:rPr>
              <a:t>→</a:t>
            </a:r>
          </a:p>
        </p:txBody>
      </p:sp>
      <p:sp>
        <p:nvSpPr>
          <p:cNvPr id="100022" name="P2"/>
          <p:cNvSpPr txBox="1"/>
          <p:nvPr/>
        </p:nvSpPr>
        <p:spPr>
          <a:xfrm>
            <a:off x="2844000" y="720000"/>
            <a:ext cx="1980000" cy="3240000"/>
          </a:xfrm>
          <a:prstGeom prst="rect">
            <a:avLst/>
          </a:prstGeom>
          <a:solidFill>
            <a:srgbClr val="D1FAE5"/>
          </a:solidFill>
        </p:spPr>
        <p:txBody>
          <a:bodyPr/>
          <a:lstStyle/>
          <a:p>
            <a:pPr algn="ctr"/>
            <a:r>
              <a:rPr lang="en-US" sz="1300">
                <a:solidFill>
                  <a:srgbClr val="064E3B"/>
                </a:solidFill>
              </a:rPr>
              <a:t>Phase 2</a:t>
            </a:r>
          </a:p>
          <a:p>
            <a:pPr algn="ctr"/>
            <a:r>
              <a:rPr lang="en-US" sz="1300">
                <a:solidFill>
                  <a:srgbClr val="064E3B"/>
                </a:solidFill>
              </a:rPr>
              <a:t>REASON</a:t>
            </a:r>
          </a:p>
          <a:p>
            <a:pPr algn="ctr"/>
            <a:endParaRPr lang="en-US" sz="1300">
              <a:solidFill>
                <a:srgbClr val="064E3B"/>
              </a:solidFill>
            </a:endParaRPr>
          </a:p>
          <a:p>
            <a:pPr algn="ctr"/>
            <a:r>
              <a:rPr lang="en-US" sz="1300">
                <a:solidFill>
                  <a:srgbClr val="064E3B"/>
                </a:solidFill>
              </a:rPr>
              <a:t>Intent-based routing</a:t>
            </a:r>
          </a:p>
          <a:p>
            <a:pPr algn="ctr"/>
            <a:r>
              <a:rPr lang="en-US" sz="1300">
                <a:solidFill>
                  <a:srgbClr val="064E3B"/>
                </a:solidFill>
              </a:rPr>
              <a:t>Select appropriate tool</a:t>
            </a:r>
          </a:p>
          <a:p>
            <a:pPr algn="ctr"/>
            <a:r>
              <a:rPr lang="en-US" sz="1300">
                <a:solidFill>
                  <a:srgbClr val="064E3B"/>
                </a:solidFill>
              </a:rPr>
              <a:t>Context injection</a:t>
            </a:r>
          </a:p>
        </p:txBody>
      </p:sp>
      <p:sp>
        <p:nvSpPr>
          <p:cNvPr id="100023" name="A2"/>
          <p:cNvSpPr txBox="1"/>
          <p:nvPr/>
        </p:nvSpPr>
        <p:spPr>
          <a:xfrm>
            <a:off x="4896000" y="1980000"/>
            <a:ext cx="360000" cy="360000"/>
          </a:xfrm>
          <a:prstGeom prst="rect">
            <a:avLst/>
          </a:prstGeom>
          <a:noFill/>
        </p:spPr>
        <p:txBody>
          <a:bodyPr/>
          <a:lstStyle/>
          <a:p>
            <a:pPr algn="ctr"/>
            <a:r>
              <a:rPr lang="en-US" sz="2200" b="1">
                <a:solidFill>
                  <a:srgbClr val="059669"/>
                </a:solidFill>
              </a:rPr>
              <a:t>→</a:t>
            </a:r>
          </a:p>
        </p:txBody>
      </p:sp>
      <p:sp>
        <p:nvSpPr>
          <p:cNvPr id="100024" name="P3"/>
          <p:cNvSpPr txBox="1"/>
          <p:nvPr/>
        </p:nvSpPr>
        <p:spPr>
          <a:xfrm>
            <a:off x="5328000" y="720000"/>
            <a:ext cx="1980000" cy="3240000"/>
          </a:xfrm>
          <a:prstGeom prst="rect">
            <a:avLst/>
          </a:prstGeom>
          <a:solidFill>
            <a:srgbClr val="D1FAE5"/>
          </a:solidFill>
        </p:spPr>
        <p:txBody>
          <a:bodyPr/>
          <a:lstStyle/>
          <a:p>
            <a:pPr algn="ctr"/>
            <a:r>
              <a:rPr lang="en-US" sz="1300">
                <a:solidFill>
                  <a:srgbClr val="064E3B"/>
                </a:solidFill>
              </a:rPr>
              <a:t>Phase 3</a:t>
            </a:r>
          </a:p>
          <a:p>
            <a:pPr algn="ctr"/>
            <a:r>
              <a:rPr lang="en-US" sz="1300">
                <a:solidFill>
                  <a:srgbClr val="064E3B"/>
                </a:solidFill>
              </a:rPr>
              <a:t>ACT</a:t>
            </a:r>
          </a:p>
          <a:p>
            <a:pPr algn="ctr"/>
            <a:endParaRPr lang="en-US" sz="1300">
              <a:solidFill>
                <a:srgbClr val="064E3B"/>
              </a:solidFill>
            </a:endParaRPr>
          </a:p>
          <a:p>
            <a:pPr algn="ctr"/>
            <a:r>
              <a:rPr lang="en-US" sz="1300">
                <a:solidFill>
                  <a:srgbClr val="064E3B"/>
                </a:solidFill>
              </a:rPr>
              <a:t>Call IBM Granite LLM</a:t>
            </a:r>
          </a:p>
          <a:p>
            <a:pPr algn="ctr"/>
            <a:r>
              <a:rPr lang="en-US" sz="1300">
                <a:solidFill>
                  <a:srgbClr val="064E3B"/>
                </a:solidFill>
              </a:rPr>
              <a:t>Structured INST prompt</a:t>
            </a:r>
          </a:p>
          <a:p>
            <a:pPr algn="ctr"/>
            <a:r>
              <a:rPr lang="en-US" sz="1300">
                <a:solidFill>
                  <a:srgbClr val="064E3B"/>
                </a:solidFill>
              </a:rPr>
              <a:t>Tool execution</a:t>
            </a:r>
          </a:p>
        </p:txBody>
      </p:sp>
      <p:sp>
        <p:nvSpPr>
          <p:cNvPr id="100025" name="A3"/>
          <p:cNvSpPr txBox="1"/>
          <p:nvPr/>
        </p:nvSpPr>
        <p:spPr>
          <a:xfrm>
            <a:off x="7380000" y="1980000"/>
            <a:ext cx="360000" cy="360000"/>
          </a:xfrm>
          <a:prstGeom prst="rect">
            <a:avLst/>
          </a:prstGeom>
          <a:noFill/>
        </p:spPr>
        <p:txBody>
          <a:bodyPr/>
          <a:lstStyle/>
          <a:p>
            <a:pPr algn="ctr"/>
            <a:r>
              <a:rPr lang="en-US" sz="2200" b="1">
                <a:solidFill>
                  <a:srgbClr val="059669"/>
                </a:solidFill>
              </a:rPr>
              <a:t>→</a:t>
            </a:r>
          </a:p>
        </p:txBody>
      </p:sp>
      <p:sp>
        <p:nvSpPr>
          <p:cNvPr id="100026" name="P4"/>
          <p:cNvSpPr txBox="1"/>
          <p:nvPr/>
        </p:nvSpPr>
        <p:spPr>
          <a:xfrm>
            <a:off x="7812000" y="720000"/>
            <a:ext cx="1980000" cy="3240000"/>
          </a:xfrm>
          <a:prstGeom prst="rect">
            <a:avLst/>
          </a:prstGeom>
          <a:solidFill>
            <a:srgbClr val="D1FAE5"/>
          </a:solidFill>
        </p:spPr>
        <p:txBody>
          <a:bodyPr/>
          <a:lstStyle/>
          <a:p>
            <a:pPr algn="ctr"/>
            <a:r>
              <a:rPr lang="en-US" sz="1300">
                <a:solidFill>
                  <a:srgbClr val="064E3B"/>
                </a:solidFill>
              </a:rPr>
              <a:t>Phase 4</a:t>
            </a:r>
          </a:p>
          <a:p>
            <a:pPr algn="ctr"/>
            <a:r>
              <a:rPr lang="en-US" sz="1300">
                <a:solidFill>
                  <a:srgbClr val="064E3B"/>
                </a:solidFill>
              </a:rPr>
              <a:t>REFLECT</a:t>
            </a:r>
          </a:p>
          <a:p>
            <a:pPr algn="ctr"/>
            <a:endParaRPr lang="en-US" sz="1300">
              <a:solidFill>
                <a:srgbClr val="064E3B"/>
              </a:solidFill>
            </a:endParaRPr>
          </a:p>
          <a:p>
            <a:pPr algn="ctr"/>
            <a:r>
              <a:rPr lang="en-US" sz="1300">
                <a:solidFill>
                  <a:srgbClr val="064E3B"/>
                </a:solidFill>
              </a:rPr>
              <a:t>Output guardrails</a:t>
            </a:r>
          </a:p>
          <a:p>
            <a:pPr algn="ctr"/>
            <a:r>
              <a:rPr lang="en-US" sz="1300">
                <a:solidFill>
                  <a:srgbClr val="064E3B"/>
                </a:solidFill>
              </a:rPr>
              <a:t>HAM tone check</a:t>
            </a:r>
          </a:p>
          <a:p>
            <a:pPr algn="ctr"/>
            <a:r>
              <a:rPr lang="en-US" sz="1300">
                <a:solidFill>
                  <a:srgbClr val="064E3B"/>
                </a:solidFill>
              </a:rPr>
              <a:t>Medical disclaimer</a:t>
            </a:r>
          </a:p>
        </p:txBody>
      </p:sp>
      <p:sp>
        <p:nvSpPr>
          <p:cNvPr id="100027" name="A4"/>
          <p:cNvSpPr txBox="1"/>
          <p:nvPr/>
        </p:nvSpPr>
        <p:spPr>
          <a:xfrm>
            <a:off x="9864000" y="1980000"/>
            <a:ext cx="360000" cy="360000"/>
          </a:xfrm>
          <a:prstGeom prst="rect">
            <a:avLst/>
          </a:prstGeom>
          <a:noFill/>
        </p:spPr>
        <p:txBody>
          <a:bodyPr/>
          <a:lstStyle/>
          <a:p>
            <a:pPr algn="ctr"/>
            <a:r>
              <a:rPr lang="en-US" sz="2200" b="1">
                <a:solidFill>
                  <a:srgbClr val="059669"/>
                </a:solidFill>
              </a:rPr>
              <a:t>→</a:t>
            </a:r>
          </a:p>
        </p:txBody>
      </p:sp>
      <p:sp>
        <p:nvSpPr>
          <p:cNvPr id="100028" name="P5"/>
          <p:cNvSpPr txBox="1"/>
          <p:nvPr/>
        </p:nvSpPr>
        <p:spPr>
          <a:xfrm>
            <a:off x="10296000" y="720000"/>
            <a:ext cx="1620000" cy="3240000"/>
          </a:xfrm>
          <a:prstGeom prst="rect">
            <a:avLst/>
          </a:prstGeom>
          <a:solidFill>
            <a:srgbClr val="064E3B"/>
          </a:solidFill>
        </p:spPr>
        <p:txBody>
          <a:bodyPr/>
          <a:lstStyle/>
          <a:p>
            <a:pPr algn="ctr"/>
            <a:r>
              <a:rPr lang="en-US" sz="1300">
                <a:solidFill>
                  <a:srgbClr val="FFFFFF"/>
                </a:solidFill>
              </a:rPr>
              <a:t>Phase 5</a:t>
            </a:r>
          </a:p>
          <a:p>
            <a:pPr algn="ctr"/>
            <a:r>
              <a:rPr lang="en-US" sz="1300">
                <a:solidFill>
                  <a:srgbClr val="FFFFFF"/>
                </a:solidFill>
              </a:rPr>
              <a:t>RESPOND</a:t>
            </a:r>
          </a:p>
          <a:p>
            <a:pPr algn="ctr"/>
            <a:endParaRPr lang="en-US" sz="1300">
              <a:solidFill>
                <a:srgbClr val="FFFFFF"/>
              </a:solidFill>
            </a:endParaRPr>
          </a:p>
          <a:p>
            <a:pPr algn="ctr"/>
            <a:r>
              <a:rPr lang="en-US" sz="1300">
                <a:solidFill>
                  <a:srgbClr val="FFFFFF"/>
                </a:solidFill>
              </a:rPr>
              <a:t>Session memory update</a:t>
            </a:r>
          </a:p>
          <a:p>
            <a:pPr algn="ctr"/>
            <a:r>
              <a:rPr lang="en-US" sz="1300">
                <a:solidFill>
                  <a:srgbClr val="FFFFFF"/>
                </a:solidFill>
              </a:rPr>
              <a:t>Formatted Markdown</a:t>
            </a:r>
          </a:p>
          <a:p>
            <a:pPr algn="ctr"/>
            <a:r>
              <a:rPr lang="en-US" sz="1300">
                <a:solidFill>
                  <a:srgbClr val="FFFFFF"/>
                </a:solidFill>
              </a:rPr>
              <a:t>Save to .md file</a:t>
            </a:r>
          </a:p>
        </p:txBody>
      </p:sp>
      <p:sp>
        <p:nvSpPr>
          <p:cNvPr id="100029" name="SDLCNote"/>
          <p:cNvSpPr txBox="1"/>
          <p:nvPr/>
        </p:nvSpPr>
        <p:spPr>
          <a:xfrm>
            <a:off x="360000" y="4320000"/>
            <a:ext cx="11160000" cy="540000"/>
          </a:xfrm>
          <a:prstGeom prst="rect">
            <a:avLst/>
          </a:prstGeom>
          <a:noFill/>
        </p:spPr>
        <p:txBody>
          <a:bodyPr/>
          <a:lstStyle/>
          <a:p>
            <a:pPr algn="ctr"/>
            <a:r>
              <a:rPr lang="en-US" sz="1500">
                <a:solidFill>
                  <a:srgbClr val="064E3B"/>
                </a:solidFill>
              </a:rPr>
              <a:t>Each user request cycles through all 5 phases — ensuring safe, accurate, and personalized responses every time.</a:t>
            </a:r>
          </a:p>
        </p:txBody>
      </p:sp>
      <p:sp>
        <p:nvSpPr>
          <p:cNvPr id="100030"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031"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032" name="SlideTitle"/>
          <p:cNvSpPr txBox="1"/>
          <p:nvPr/>
        </p:nvSpPr>
        <p:spPr>
          <a:xfrm>
            <a:off x="288000" y="72000"/>
            <a:ext cx="11520000" cy="432000"/>
          </a:xfrm>
          <a:prstGeom prst="rect">
            <a:avLst/>
          </a:prstGeom>
          <a:noFill/>
        </p:spPr>
        <p:txBody>
          <a:bodyPr/>
          <a:lstStyle/>
          <a:p>
            <a:r>
              <a:rPr lang="en-US" sz="2600" b="1">
                <a:solidFill>
                  <a:srgbClr val="FFFFFF"/>
                </a:solidFill>
              </a:rPr>
              <a:t>Slide 4: System Architecture</a:t>
            </a:r>
          </a:p>
        </p:txBody>
      </p:sp>
      <p:sp>
        <p:nvSpPr>
          <p:cNvPr id="100033" name="FE"/>
          <p:cNvSpPr txBox="1"/>
          <p:nvPr/>
        </p:nvSpPr>
        <p:spPr>
          <a:xfrm>
            <a:off x="360000" y="720000"/>
            <a:ext cx="5040000" cy="1152000"/>
          </a:xfrm>
          <a:prstGeom prst="rect">
            <a:avLst/>
          </a:prstGeom>
          <a:solidFill>
            <a:srgbClr val="DBEAFE"/>
          </a:solidFill>
        </p:spPr>
        <p:txBody>
          <a:bodyPr/>
          <a:lstStyle/>
          <a:p>
            <a:pPr algn="ctr"/>
            <a:r>
              <a:rPr lang="en-US" sz="1400">
                <a:solidFill>
                  <a:srgbClr val="1E293B"/>
                </a:solidFill>
              </a:rPr>
              <a:t>🌐  Web Browser (SPA)</a:t>
            </a:r>
          </a:p>
          <a:p>
            <a:pPr algn="ctr"/>
            <a:r>
              <a:rPr lang="en-US" sz="1400">
                <a:solidFill>
                  <a:srgbClr val="1E293B"/>
                </a:solidFill>
              </a:rPr>
              <a:t>index.html + style.css + app.js</a:t>
            </a:r>
          </a:p>
          <a:p>
            <a:pPr algn="ctr"/>
            <a:r>
              <a:rPr lang="en-US" sz="1400">
                <a:solidFill>
                  <a:srgbClr val="1E293B"/>
                </a:solidFill>
              </a:rPr>
              <a:t>Fetch API · Marked.js · 5 Tabs</a:t>
            </a:r>
          </a:p>
        </p:txBody>
      </p:sp>
      <p:sp>
        <p:nvSpPr>
          <p:cNvPr id="100034" name="Arrow1"/>
          <p:cNvSpPr txBox="1"/>
          <p:nvPr/>
        </p:nvSpPr>
        <p:spPr>
          <a:xfrm>
            <a:off x="5508000" y="1152000"/>
            <a:ext cx="1260000" cy="288000"/>
          </a:xfrm>
          <a:prstGeom prst="rect">
            <a:avLst/>
          </a:prstGeom>
          <a:noFill/>
        </p:spPr>
        <p:txBody>
          <a:bodyPr/>
          <a:lstStyle/>
          <a:p>
            <a:pPr algn="ctr"/>
            <a:r>
              <a:rPr lang="en-US" sz="1200">
                <a:solidFill>
                  <a:srgbClr val="1D4ED8"/>
                </a:solidFill>
              </a:rPr>
              <a:t>HTTP REST API ↕</a:t>
            </a:r>
          </a:p>
        </p:txBody>
      </p:sp>
      <p:sp>
        <p:nvSpPr>
          <p:cNvPr id="100035" name="BE"/>
          <p:cNvSpPr txBox="1"/>
          <p:nvPr/>
        </p:nvSpPr>
        <p:spPr>
          <a:xfrm>
            <a:off x="6840000" y="720000"/>
            <a:ext cx="5040000" cy="1152000"/>
          </a:xfrm>
          <a:prstGeom prst="rect">
            <a:avLst/>
          </a:prstGeom>
          <a:solidFill>
            <a:srgbClr val="FEF3C7"/>
          </a:solidFill>
        </p:spPr>
        <p:txBody>
          <a:bodyPr/>
          <a:lstStyle/>
          <a:p>
            <a:pPr algn="ctr"/>
            <a:r>
              <a:rPr lang="en-US" sz="1400">
                <a:solidFill>
                  <a:srgbClr val="1E293B"/>
                </a:solidFill>
              </a:rPr>
              <a:t>⚙️  Flask Backend (app.py)</a:t>
            </a:r>
          </a:p>
          <a:p>
            <a:pPr algn="ctr"/>
            <a:r>
              <a:rPr lang="en-US" sz="1400">
                <a:solidFill>
                  <a:srgbClr val="1E293B"/>
                </a:solidFill>
              </a:rPr>
              <a:t>POST /api/generate-plan</a:t>
            </a:r>
          </a:p>
          <a:p>
            <a:pPr algn="ctr"/>
            <a:r>
              <a:rPr lang="en-US" sz="1400">
                <a:solidFill>
                  <a:srgbClr val="1E293B"/>
                </a:solidFill>
              </a:rPr>
              <a:t>POST /api/chat</a:t>
            </a:r>
          </a:p>
          <a:p>
            <a:pPr algn="ctr"/>
            <a:r>
              <a:rPr lang="en-US" sz="1400">
                <a:solidFill>
                  <a:srgbClr val="1E293B"/>
                </a:solidFill>
              </a:rPr>
              <a:t>GET  /api/plans  |  /api/health</a:t>
            </a:r>
          </a:p>
        </p:txBody>
      </p:sp>
      <p:sp>
        <p:nvSpPr>
          <p:cNvPr id="100036" name="Arrow2"/>
          <p:cNvSpPr txBox="1"/>
          <p:nvPr/>
        </p:nvSpPr>
        <p:spPr>
          <a:xfrm>
            <a:off x="5760000" y="1980000"/>
            <a:ext cx="900000" cy="288000"/>
          </a:xfrm>
          <a:prstGeom prst="rect">
            <a:avLst/>
          </a:prstGeom>
          <a:noFill/>
        </p:spPr>
        <p:txBody>
          <a:bodyPr/>
          <a:lstStyle/>
          <a:p>
            <a:pPr algn="ctr"/>
            <a:r>
              <a:rPr lang="en-US" sz="2000" b="1">
                <a:solidFill>
                  <a:srgbClr val="059669"/>
                </a:solidFill>
              </a:rPr>
              <a:t>↓</a:t>
            </a:r>
          </a:p>
        </p:txBody>
      </p:sp>
      <p:sp>
        <p:nvSpPr>
          <p:cNvPr id="100037" name="Agent"/>
          <p:cNvSpPr txBox="1"/>
          <p:nvPr/>
        </p:nvSpPr>
        <p:spPr>
          <a:xfrm>
            <a:off x="2520000" y="2340000"/>
            <a:ext cx="7200000" cy="1080000"/>
          </a:xfrm>
          <a:prstGeom prst="rect">
            <a:avLst/>
          </a:prstGeom>
          <a:solidFill>
            <a:srgbClr val="064E3B"/>
          </a:solidFill>
        </p:spPr>
        <p:txBody>
          <a:bodyPr/>
          <a:lstStyle/>
          <a:p>
            <a:pPr algn="ctr"/>
            <a:r>
              <a:rPr lang="en-US" sz="1400">
                <a:solidFill>
                  <a:srgbClr val="FFFFFF"/>
                </a:solidFill>
              </a:rPr>
              <a:t>🤖  Agentic AI Engine (agent.py)</a:t>
            </a:r>
          </a:p>
          <a:p>
            <a:pPr algn="ctr"/>
            <a:r>
              <a:rPr lang="en-US" sz="1400">
                <a:solidFill>
                  <a:srgbClr val="FFFFFF"/>
                </a:solidFill>
              </a:rPr>
              <a:t>PERCEIVE → REASON → ACT → REFLECT → RESPOND</a:t>
            </a:r>
          </a:p>
          <a:p>
            <a:pPr algn="ctr"/>
            <a:r>
              <a:rPr lang="en-US" sz="1400">
                <a:solidFill>
                  <a:srgbClr val="FFFFFF"/>
                </a:solidFill>
              </a:rPr>
              <a:t>Session Memory · Tool Router · 4 Agent Tools</a:t>
            </a:r>
          </a:p>
        </p:txBody>
      </p:sp>
      <p:sp>
        <p:nvSpPr>
          <p:cNvPr id="100038" name="Arrow3a"/>
          <p:cNvSpPr txBox="1"/>
          <p:nvPr/>
        </p:nvSpPr>
        <p:spPr>
          <a:xfrm>
            <a:off x="1440000" y="3600000"/>
            <a:ext cx="720000" cy="288000"/>
          </a:xfrm>
          <a:prstGeom prst="rect">
            <a:avLst/>
          </a:prstGeom>
          <a:noFill/>
        </p:spPr>
        <p:txBody>
          <a:bodyPr/>
          <a:lstStyle/>
          <a:p>
            <a:pPr algn="ctr"/>
            <a:r>
              <a:rPr lang="en-US" sz="2000" b="1">
                <a:solidFill>
                  <a:srgbClr val="059669"/>
                </a:solidFill>
              </a:rPr>
              <a:t>↓</a:t>
            </a:r>
          </a:p>
        </p:txBody>
      </p:sp>
      <p:sp>
        <p:nvSpPr>
          <p:cNvPr id="100039" name="Arrow3b"/>
          <p:cNvSpPr txBox="1"/>
          <p:nvPr/>
        </p:nvSpPr>
        <p:spPr>
          <a:xfrm>
            <a:off x="5760000" y="3600000"/>
            <a:ext cx="720000" cy="288000"/>
          </a:xfrm>
          <a:prstGeom prst="rect">
            <a:avLst/>
          </a:prstGeom>
          <a:noFill/>
        </p:spPr>
        <p:txBody>
          <a:bodyPr/>
          <a:lstStyle/>
          <a:p>
            <a:pPr algn="ctr"/>
            <a:r>
              <a:rPr lang="en-US" sz="2000" b="1">
                <a:solidFill>
                  <a:srgbClr val="059669"/>
                </a:solidFill>
              </a:rPr>
              <a:t>↓</a:t>
            </a:r>
          </a:p>
        </p:txBody>
      </p:sp>
      <p:sp>
        <p:nvSpPr>
          <p:cNvPr id="100040" name="Arrow3c"/>
          <p:cNvSpPr txBox="1"/>
          <p:nvPr/>
        </p:nvSpPr>
        <p:spPr>
          <a:xfrm>
            <a:off x="10080000" y="3600000"/>
            <a:ext cx="720000" cy="288000"/>
          </a:xfrm>
          <a:prstGeom prst="rect">
            <a:avLst/>
          </a:prstGeom>
          <a:noFill/>
        </p:spPr>
        <p:txBody>
          <a:bodyPr/>
          <a:lstStyle/>
          <a:p>
            <a:pPr algn="ctr"/>
            <a:r>
              <a:rPr lang="en-US" sz="2000" b="1">
                <a:solidFill>
                  <a:srgbClr val="059669"/>
                </a:solidFill>
              </a:rPr>
              <a:t>↓</a:t>
            </a:r>
          </a:p>
        </p:txBody>
      </p:sp>
      <p:sp>
        <p:nvSpPr>
          <p:cNvPr id="100041" name="G"/>
          <p:cNvSpPr txBox="1"/>
          <p:nvPr/>
        </p:nvSpPr>
        <p:spPr>
          <a:xfrm>
            <a:off x="360000" y="3960000"/>
            <a:ext cx="3240000" cy="1080000"/>
          </a:xfrm>
          <a:prstGeom prst="rect">
            <a:avLst/>
          </a:prstGeom>
          <a:solidFill>
            <a:srgbClr val="FEE2E2"/>
          </a:solidFill>
        </p:spPr>
        <p:txBody>
          <a:bodyPr/>
          <a:lstStyle/>
          <a:p>
            <a:pPr algn="ctr"/>
            <a:r>
              <a:rPr lang="en-US" sz="1300">
                <a:solidFill>
                  <a:srgbClr val="1E293B"/>
                </a:solidFill>
              </a:rPr>
              <a:t>🛡️  guardrails.py</a:t>
            </a:r>
          </a:p>
          <a:p>
            <a:pPr algn="ctr"/>
            <a:r>
              <a:rPr lang="en-US" sz="1300">
                <a:solidFill>
                  <a:srgbClr val="1E293B"/>
                </a:solidFill>
              </a:rPr>
              <a:t>Safety · HAM</a:t>
            </a:r>
          </a:p>
          <a:p>
            <a:pPr algn="ctr"/>
            <a:r>
              <a:rPr lang="en-US" sz="1300">
                <a:solidFill>
                  <a:srgbClr val="1E293B"/>
                </a:solidFill>
              </a:rPr>
              <a:t>Disclaimer</a:t>
            </a:r>
          </a:p>
        </p:txBody>
      </p:sp>
      <p:sp>
        <p:nvSpPr>
          <p:cNvPr id="100042" name="GC"/>
          <p:cNvSpPr txBox="1"/>
          <p:nvPr/>
        </p:nvSpPr>
        <p:spPr>
          <a:xfrm>
            <a:off x="4320000" y="3960000"/>
            <a:ext cx="3600000" cy="1080000"/>
          </a:xfrm>
          <a:prstGeom prst="rect">
            <a:avLst/>
          </a:prstGeom>
          <a:solidFill>
            <a:srgbClr val="EDE9FE"/>
          </a:solidFill>
        </p:spPr>
        <p:txBody>
          <a:bodyPr/>
          <a:lstStyle/>
          <a:p>
            <a:pPr algn="ctr"/>
            <a:r>
              <a:rPr lang="en-US" sz="1300">
                <a:solidFill>
                  <a:srgbClr val="1E293B"/>
                </a:solidFill>
              </a:rPr>
              <a:t>🧠  granite_client.py</a:t>
            </a:r>
          </a:p>
          <a:p>
            <a:pPr algn="ctr"/>
            <a:r>
              <a:rPr lang="en-US" sz="1300">
                <a:solidFill>
                  <a:srgbClr val="1E293B"/>
                </a:solidFill>
              </a:rPr>
              <a:t>IBM Granite LLM</a:t>
            </a:r>
          </a:p>
          <a:p>
            <a:pPr algn="ctr"/>
            <a:r>
              <a:rPr lang="en-US" sz="1300">
                <a:solidFill>
                  <a:srgbClr val="1E293B"/>
                </a:solidFill>
              </a:rPr>
              <a:t>IAM Auth · Fallback</a:t>
            </a:r>
          </a:p>
        </p:txBody>
      </p:sp>
      <p:sp>
        <p:nvSpPr>
          <p:cNvPr id="100043" name="PS"/>
          <p:cNvSpPr txBox="1"/>
          <p:nvPr/>
        </p:nvSpPr>
        <p:spPr>
          <a:xfrm>
            <a:off x="8460000" y="3960000"/>
            <a:ext cx="3240000" cy="1080000"/>
          </a:xfrm>
          <a:prstGeom prst="rect">
            <a:avLst/>
          </a:prstGeom>
          <a:solidFill>
            <a:srgbClr val="D1FAE5"/>
          </a:solidFill>
        </p:spPr>
        <p:txBody>
          <a:bodyPr/>
          <a:lstStyle/>
          <a:p>
            <a:pPr algn="ctr"/>
            <a:r>
              <a:rPr lang="en-US" sz="1300">
                <a:solidFill>
                  <a:srgbClr val="1E293B"/>
                </a:solidFill>
              </a:rPr>
              <a:t>💾  plan_saver.py</a:t>
            </a:r>
          </a:p>
          <a:p>
            <a:pPr algn="ctr"/>
            <a:r>
              <a:rPr lang="en-US" sz="1300">
                <a:solidFill>
                  <a:srgbClr val="1E293B"/>
                </a:solidFill>
              </a:rPr>
              <a:t>Markdown .md</a:t>
            </a:r>
          </a:p>
          <a:p>
            <a:pPr algn="ctr"/>
            <a:r>
              <a:rPr lang="en-US" sz="1300">
                <a:solidFill>
                  <a:srgbClr val="1E293B"/>
                </a:solidFill>
              </a:rPr>
              <a:t>Persistence</a:t>
            </a:r>
          </a:p>
        </p:txBody>
      </p:sp>
      <p:sp>
        <p:nvSpPr>
          <p:cNvPr id="100044"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045"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046" name="SlideTitle"/>
          <p:cNvSpPr txBox="1"/>
          <p:nvPr/>
        </p:nvSpPr>
        <p:spPr>
          <a:xfrm>
            <a:off x="288000" y="72000"/>
            <a:ext cx="11520000" cy="432000"/>
          </a:xfrm>
          <a:prstGeom prst="rect">
            <a:avLst/>
          </a:prstGeom>
          <a:noFill/>
        </p:spPr>
        <p:txBody>
          <a:bodyPr/>
          <a:lstStyle/>
          <a:p>
            <a:r>
              <a:rPr lang="en-US" sz="2600" b="1">
                <a:solidFill>
                  <a:srgbClr val="FFFFFF"/>
                </a:solidFill>
              </a:rPr>
              <a:t>Slide 5: IBM Granite LLM Integration</a:t>
            </a:r>
          </a:p>
        </p:txBody>
      </p:sp>
      <p:sp>
        <p:nvSpPr>
          <p:cNvPr id="100047" name="IBM"/>
          <p:cNvSpPr txBox="1"/>
          <p:nvPr/>
        </p:nvSpPr>
        <p:spPr>
          <a:xfrm>
            <a:off x="360000" y="720000"/>
            <a:ext cx="11160000" cy="360000"/>
          </a:xfrm>
          <a:prstGeom prst="rect">
            <a:avLst/>
          </a:prstGeom>
          <a:noFill/>
        </p:spPr>
        <p:txBody>
          <a:bodyPr/>
          <a:lstStyle/>
          <a:p>
            <a:pPr algn="ctr"/>
            <a:r>
              <a:rPr lang="en-US" sz="2200" b="1">
                <a:solidFill>
                  <a:srgbClr val="054ADA"/>
                </a:solidFill>
              </a:rPr>
              <a:t>IBM Granite 13B Instruct v2</a:t>
            </a:r>
          </a:p>
        </p:txBody>
      </p:sp>
      <p:sp>
        <p:nvSpPr>
          <p:cNvPr id="100048" name="ModelInfo"/>
          <p:cNvSpPr txBox="1"/>
          <p:nvPr/>
        </p:nvSpPr>
        <p:spPr>
          <a:xfrm>
            <a:off x="360000" y="1152000"/>
            <a:ext cx="11160000" cy="1080000"/>
          </a:xfrm>
          <a:prstGeom prst="rect">
            <a:avLst/>
          </a:prstGeom>
          <a:solidFill>
            <a:srgbClr val="EFF6FF"/>
          </a:solidFill>
        </p:spPr>
        <p:txBody>
          <a:bodyPr/>
          <a:lstStyle/>
          <a:p>
            <a:r>
              <a:rPr lang="en-US" sz="1500">
                <a:solidFill>
                  <a:srgbClr val="1E293B"/>
                </a:solidFill>
              </a:rPr>
              <a:t>Model ID:  ibm/granite-13b-instruct-v2</a:t>
            </a:r>
          </a:p>
          <a:p>
            <a:r>
              <a:rPr lang="en-US" sz="1500">
                <a:solidFill>
                  <a:srgbClr val="1E293B"/>
                </a:solidFill>
              </a:rPr>
              <a:t>Platform:  IBM watsonx.ai  (REST API v2023-05-29)</a:t>
            </a:r>
          </a:p>
          <a:p>
            <a:r>
              <a:rPr lang="en-US" sz="1500">
                <a:solidFill>
                  <a:srgbClr val="1E293B"/>
                </a:solidFill>
              </a:rPr>
              <a:t>Auth:       IBM IAM Token  (auto-cached, refreshed 60s before expiry)</a:t>
            </a:r>
          </a:p>
          <a:p>
            <a:r>
              <a:rPr lang="en-US" sz="1500">
                <a:solidFill>
                  <a:srgbClr val="1E293B"/>
                </a:solidFill>
              </a:rPr>
              <a:t>Endpoint:  https://us-south.ml.cloud.ibm.com/ml/v1/text/generation</a:t>
            </a:r>
          </a:p>
        </p:txBody>
      </p:sp>
      <p:sp>
        <p:nvSpPr>
          <p:cNvPr id="100049" name="FlowTitle"/>
          <p:cNvSpPr txBox="1"/>
          <p:nvPr/>
        </p:nvSpPr>
        <p:spPr>
          <a:xfrm>
            <a:off x="360000" y="2340000"/>
            <a:ext cx="3600000" cy="288000"/>
          </a:xfrm>
          <a:prstGeom prst="rect">
            <a:avLst/>
          </a:prstGeom>
          <a:noFill/>
        </p:spPr>
        <p:txBody>
          <a:bodyPr/>
          <a:lstStyle/>
          <a:p>
            <a:r>
              <a:rPr lang="en-US" sz="1600" b="1">
                <a:solidFill>
                  <a:srgbClr val="064E3B"/>
                </a:solidFill>
              </a:rPr>
              <a:t>API Call Flow</a:t>
            </a:r>
          </a:p>
        </p:txBody>
      </p:sp>
      <p:sp>
        <p:nvSpPr>
          <p:cNvPr id="100050" name="Flow"/>
          <p:cNvSpPr txBox="1"/>
          <p:nvPr/>
        </p:nvSpPr>
        <p:spPr>
          <a:xfrm>
            <a:off x="360000" y="2700000"/>
            <a:ext cx="7200000" cy="2520000"/>
          </a:xfrm>
          <a:prstGeom prst="rect">
            <a:avLst/>
          </a:prstGeom>
          <a:solidFill>
            <a:srgbClr val="F0FDF4"/>
          </a:solidFill>
        </p:spPr>
        <p:txBody>
          <a:bodyPr/>
          <a:lstStyle/>
          <a:p>
            <a:r>
              <a:rPr lang="en-US" sz="1400">
                <a:solidFill>
                  <a:srgbClr val="1E293B"/>
                </a:solidFill>
              </a:rPr>
              <a:t>1  User submits profile / query</a:t>
            </a:r>
          </a:p>
          <a:p>
            <a:r>
              <a:rPr lang="en-US" sz="1400">
                <a:solidFill>
                  <a:srgbClr val="1E293B"/>
                </a:solidFill>
              </a:rPr>
              <a:t>2  granite_client.py fetches IAM Bearer Token (cached)</a:t>
            </a:r>
          </a:p>
          <a:p>
            <a:r>
              <a:rPr lang="en-US" sz="1400">
                <a:solidFill>
                  <a:srgbClr val="1E293B"/>
                </a:solidFill>
              </a:rPr>
              <a:t>3  Structured [INST] prompt built with user context</a:t>
            </a:r>
          </a:p>
          <a:p>
            <a:r>
              <a:rPr lang="en-US" sz="1400">
                <a:solidFill>
                  <a:srgbClr val="1E293B"/>
                </a:solidFill>
              </a:rPr>
              <a:t>4  POST to watsonx.ai with params: temp=0.65, max_tokens=1500</a:t>
            </a:r>
          </a:p>
          <a:p>
            <a:r>
              <a:rPr lang="en-US" sz="1400">
                <a:solidFill>
                  <a:srgbClr val="1E293B"/>
                </a:solidFill>
              </a:rPr>
              <a:t>5  Response parsed from results[0].generated_text</a:t>
            </a:r>
          </a:p>
          <a:p>
            <a:r>
              <a:rPr lang="en-US" sz="1400">
                <a:solidFill>
                  <a:srgbClr val="1E293B"/>
                </a:solidFill>
              </a:rPr>
              <a:t>6  Guardrails applied → HAM tone → Disclaimer appended</a:t>
            </a:r>
          </a:p>
          <a:p>
            <a:r>
              <a:rPr lang="en-US" sz="1400">
                <a:solidFill>
                  <a:srgbClr val="1E293B"/>
                </a:solidFill>
              </a:rPr>
              <a:t>7  Formatted Markdown returned to frontend</a:t>
            </a:r>
          </a:p>
        </p:txBody>
      </p:sp>
      <p:sp>
        <p:nvSpPr>
          <p:cNvPr id="100051" name="DemoBox"/>
          <p:cNvSpPr txBox="1"/>
          <p:nvPr/>
        </p:nvSpPr>
        <p:spPr>
          <a:xfrm>
            <a:off x="7920000" y="2340000"/>
            <a:ext cx="3960000" cy="2880000"/>
          </a:xfrm>
          <a:prstGeom prst="rect">
            <a:avLst/>
          </a:prstGeom>
          <a:solidFill>
            <a:srgbClr val="DCFCE7"/>
          </a:solidFill>
        </p:spPr>
        <p:txBody>
          <a:bodyPr/>
          <a:lstStyle/>
          <a:p>
            <a:r>
              <a:rPr lang="en-US" sz="1300">
                <a:solidFill>
                  <a:srgbClr val="065F46"/>
                </a:solidFill>
              </a:rPr>
              <a:t>🔄  Demo Mode</a:t>
            </a:r>
          </a:p>
          <a:p>
            <a:endParaRPr lang="en-US" sz="1300">
              <a:solidFill>
                <a:srgbClr val="065F46"/>
              </a:solidFill>
            </a:endParaRPr>
          </a:p>
          <a:p>
            <a:r>
              <a:rPr lang="en-US" sz="1300">
                <a:solidFill>
                  <a:srgbClr val="065F46"/>
                </a:solidFill>
              </a:rPr>
              <a:t>When IBM_API_KEY is not set, the app automatically switches to a built-in knowledge base with realistic nutrition plans.</a:t>
            </a:r>
          </a:p>
          <a:p>
            <a:endParaRPr lang="en-US" sz="1300">
              <a:solidFill>
                <a:srgbClr val="065F46"/>
              </a:solidFill>
            </a:endParaRPr>
          </a:p>
          <a:p>
            <a:r>
              <a:rPr lang="en-US" sz="1300">
                <a:solidFill>
                  <a:srgbClr val="065F46"/>
                </a:solidFill>
              </a:rPr>
              <a:t>All 4 agentic tools remain fully functional — ideal for evaluation and testing.</a:t>
            </a:r>
          </a:p>
        </p:txBody>
      </p:sp>
      <p:sp>
        <p:nvSpPr>
          <p:cNvPr id="100052"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053"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054" name="SlideTitle"/>
          <p:cNvSpPr txBox="1"/>
          <p:nvPr/>
        </p:nvSpPr>
        <p:spPr>
          <a:xfrm>
            <a:off x="288000" y="72000"/>
            <a:ext cx="11520000" cy="432000"/>
          </a:xfrm>
          <a:prstGeom prst="rect">
            <a:avLst/>
          </a:prstGeom>
          <a:noFill/>
        </p:spPr>
        <p:txBody>
          <a:bodyPr/>
          <a:lstStyle/>
          <a:p>
            <a:r>
              <a:rPr lang="en-US" sz="2600" b="1">
                <a:solidFill>
                  <a:srgbClr val="FFFFFF"/>
                </a:solidFill>
              </a:rPr>
              <a:t>Slide 6: Agentic Tools — 4 Specialized Capabilities</a:t>
            </a:r>
          </a:p>
        </p:txBody>
      </p:sp>
      <p:sp>
        <p:nvSpPr>
          <p:cNvPr id="100055" name="T1"/>
          <p:cNvSpPr txBox="1"/>
          <p:nvPr/>
        </p:nvSpPr>
        <p:spPr>
          <a:xfrm>
            <a:off x="360000" y="720000"/>
            <a:ext cx="5400000" cy="2520000"/>
          </a:xfrm>
          <a:prstGeom prst="rect">
            <a:avLst/>
          </a:prstGeom>
          <a:solidFill>
            <a:srgbClr val="ECFDF5"/>
          </a:solidFill>
        </p:spPr>
        <p:txBody>
          <a:bodyPr/>
          <a:lstStyle/>
          <a:p>
            <a:r>
              <a:rPr lang="en-US" sz="1300">
                <a:solidFill>
                  <a:srgbClr val="1E293B"/>
                </a:solidFill>
              </a:rPr>
              <a:t>📋  Tool 1</a:t>
            </a:r>
          </a:p>
          <a:p>
            <a:r>
              <a:rPr lang="en-US" sz="1300">
                <a:solidFill>
                  <a:srgbClr val="1E293B"/>
                </a:solidFill>
              </a:rPr>
              <a:t>generate_nutrition_plan</a:t>
            </a:r>
          </a:p>
          <a:p>
            <a:endParaRPr lang="en-US" sz="1300">
              <a:solidFill>
                <a:srgbClr val="1E293B"/>
              </a:solidFill>
            </a:endParaRPr>
          </a:p>
          <a:p>
            <a:r>
              <a:rPr lang="en-US" sz="1300">
                <a:solidFill>
                  <a:srgbClr val="1E293B"/>
                </a:solidFill>
              </a:rPr>
              <a:t>Triggers: 'plan', 'meal plan', 'diet plan'</a:t>
            </a:r>
          </a:p>
          <a:p>
            <a:endParaRPr lang="en-US" sz="1300">
              <a:solidFill>
                <a:srgbClr val="1E293B"/>
              </a:solidFill>
            </a:endParaRPr>
          </a:p>
          <a:p>
            <a:r>
              <a:rPr lang="en-US" sz="1300">
                <a:solidFill>
                  <a:srgbClr val="1E293B"/>
                </a:solidFill>
              </a:rPr>
              <a:t>Generates a full personalized 7-day style meal plan with macros, micros, hydration schedule, local foods, and medical condition adaptations using IBM Granite.</a:t>
            </a:r>
          </a:p>
        </p:txBody>
      </p:sp>
      <p:sp>
        <p:nvSpPr>
          <p:cNvPr id="100056" name="T2"/>
          <p:cNvSpPr txBox="1"/>
          <p:nvPr/>
        </p:nvSpPr>
        <p:spPr>
          <a:xfrm>
            <a:off x="6300000" y="720000"/>
            <a:ext cx="5400000" cy="2520000"/>
          </a:xfrm>
          <a:prstGeom prst="rect">
            <a:avLst/>
          </a:prstGeom>
          <a:solidFill>
            <a:srgbClr val="ECFDF5"/>
          </a:solidFill>
        </p:spPr>
        <p:txBody>
          <a:bodyPr/>
          <a:lstStyle/>
          <a:p>
            <a:r>
              <a:rPr lang="en-US" sz="1300">
                <a:solidFill>
                  <a:srgbClr val="1E293B"/>
                </a:solidFill>
              </a:rPr>
              <a:t>💬  Tool 2</a:t>
            </a:r>
          </a:p>
          <a:p>
            <a:r>
              <a:rPr lang="en-US" sz="1300">
                <a:solidFill>
                  <a:srgbClr val="1E293B"/>
                </a:solidFill>
              </a:rPr>
              <a:t>answer_nutrition_query</a:t>
            </a:r>
          </a:p>
          <a:p>
            <a:endParaRPr lang="en-US" sz="1300">
              <a:solidFill>
                <a:srgbClr val="1E293B"/>
              </a:solidFill>
            </a:endParaRPr>
          </a:p>
          <a:p>
            <a:r>
              <a:rPr lang="en-US" sz="1300">
                <a:solidFill>
                  <a:srgbClr val="1E293B"/>
                </a:solidFill>
              </a:rPr>
              <a:t>Triggers: Any nutrition question</a:t>
            </a:r>
          </a:p>
          <a:p>
            <a:endParaRPr lang="en-US" sz="1300">
              <a:solidFill>
                <a:srgbClr val="1E293B"/>
              </a:solidFill>
            </a:endParaRPr>
          </a:p>
          <a:p>
            <a:r>
              <a:rPr lang="en-US" sz="1300">
                <a:solidFill>
                  <a:srgbClr val="1E293B"/>
                </a:solidFill>
              </a:rPr>
              <a:t>Context-aware Q&amp;A with in-process session memory (last 4 turns). Provides evidence-based answers on nutrition, diet, and health with user profile context injected.</a:t>
            </a:r>
          </a:p>
        </p:txBody>
      </p:sp>
      <p:sp>
        <p:nvSpPr>
          <p:cNvPr id="100057" name="T3"/>
          <p:cNvSpPr txBox="1"/>
          <p:nvPr/>
        </p:nvSpPr>
        <p:spPr>
          <a:xfrm>
            <a:off x="360000" y="3600000"/>
            <a:ext cx="5400000" cy="2340000"/>
          </a:xfrm>
          <a:prstGeom prst="rect">
            <a:avLst/>
          </a:prstGeom>
          <a:solidFill>
            <a:srgbClr val="ECFDF5"/>
          </a:solidFill>
        </p:spPr>
        <p:txBody>
          <a:bodyPr/>
          <a:lstStyle/>
          <a:p>
            <a:r>
              <a:rPr lang="en-US" sz="1300">
                <a:solidFill>
                  <a:srgbClr val="1E293B"/>
                </a:solidFill>
              </a:rPr>
              <a:t>🌍  Tool 3</a:t>
            </a:r>
          </a:p>
          <a:p>
            <a:r>
              <a:rPr lang="en-US" sz="1300">
                <a:solidFill>
                  <a:srgbClr val="1E293B"/>
                </a:solidFill>
              </a:rPr>
              <a:t>get_local_food_tips</a:t>
            </a:r>
          </a:p>
          <a:p>
            <a:endParaRPr lang="en-US" sz="1300">
              <a:solidFill>
                <a:srgbClr val="1E293B"/>
              </a:solidFill>
            </a:endParaRPr>
          </a:p>
          <a:p>
            <a:r>
              <a:rPr lang="en-US" sz="1300">
                <a:solidFill>
                  <a:srgbClr val="1E293B"/>
                </a:solidFill>
              </a:rPr>
              <a:t>Triggers: 'local food', 'cuisine', 'traditional'</a:t>
            </a:r>
          </a:p>
          <a:p>
            <a:endParaRPr lang="en-US" sz="1300">
              <a:solidFill>
                <a:srgbClr val="1E293B"/>
              </a:solidFill>
            </a:endParaRPr>
          </a:p>
          <a:p>
            <a:r>
              <a:rPr lang="en-US" sz="1300">
                <a:solidFill>
                  <a:srgbClr val="1E293B"/>
                </a:solidFill>
              </a:rPr>
              <a:t>Provides culturally appropriate, region-specific food recommendations including local superfoods, traditional healthy dishes, and where to find ingredients.</a:t>
            </a:r>
          </a:p>
        </p:txBody>
      </p:sp>
      <p:sp>
        <p:nvSpPr>
          <p:cNvPr id="100058" name="T4"/>
          <p:cNvSpPr txBox="1"/>
          <p:nvPr/>
        </p:nvSpPr>
        <p:spPr>
          <a:xfrm>
            <a:off x="6300000" y="3600000"/>
            <a:ext cx="5400000" cy="2340000"/>
          </a:xfrm>
          <a:prstGeom prst="rect">
            <a:avLst/>
          </a:prstGeom>
          <a:solidFill>
            <a:srgbClr val="ECFDF5"/>
          </a:solidFill>
        </p:spPr>
        <p:txBody>
          <a:bodyPr/>
          <a:lstStyle/>
          <a:p>
            <a:r>
              <a:rPr lang="en-US" sz="1300">
                <a:solidFill>
                  <a:srgbClr val="1E293B"/>
                </a:solidFill>
              </a:rPr>
              <a:t>📊  Tool 4</a:t>
            </a:r>
          </a:p>
          <a:p>
            <a:r>
              <a:rPr lang="en-US" sz="1300">
                <a:solidFill>
                  <a:srgbClr val="1E293B"/>
                </a:solidFill>
              </a:rPr>
              <a:t>calculate_bmi</a:t>
            </a:r>
          </a:p>
          <a:p>
            <a:endParaRPr lang="en-US" sz="1300">
              <a:solidFill>
                <a:srgbClr val="1E293B"/>
              </a:solidFill>
            </a:endParaRPr>
          </a:p>
          <a:p>
            <a:r>
              <a:rPr lang="en-US" sz="1300">
                <a:solidFill>
                  <a:srgbClr val="1E293B"/>
                </a:solidFill>
              </a:rPr>
              <a:t>Triggers: 'bmi', 'body mass'</a:t>
            </a:r>
          </a:p>
          <a:p>
            <a:endParaRPr lang="en-US" sz="1300">
              <a:solidFill>
                <a:srgbClr val="1E293B"/>
              </a:solidFill>
            </a:endParaRPr>
          </a:p>
          <a:p>
            <a:r>
              <a:rPr lang="en-US" sz="1300">
                <a:solidFill>
                  <a:srgbClr val="1E293B"/>
                </a:solidFill>
              </a:rPr>
              <a:t>Calculates BMI from user weight/height, classifies into: Underweight / Normal / Overweight / Obese. Returns category and tailored recommendation.</a:t>
            </a:r>
          </a:p>
        </p:txBody>
      </p:sp>
      <p:sp>
        <p:nvSpPr>
          <p:cNvPr id="100059"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060"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061" name="SlideTitle"/>
          <p:cNvSpPr txBox="1"/>
          <p:nvPr/>
        </p:nvSpPr>
        <p:spPr>
          <a:xfrm>
            <a:off x="288000" y="72000"/>
            <a:ext cx="11520000" cy="432000"/>
          </a:xfrm>
          <a:prstGeom prst="rect">
            <a:avLst/>
          </a:prstGeom>
          <a:noFill/>
        </p:spPr>
        <p:txBody>
          <a:bodyPr/>
          <a:lstStyle/>
          <a:p>
            <a:r>
              <a:rPr lang="en-US" sz="2600" b="1">
                <a:solidFill>
                  <a:srgbClr val="FFFFFF"/>
                </a:solidFill>
              </a:rPr>
              <a:t>Slide 7: AI Ethics, Guardrails &amp; HAM Principles</a:t>
            </a:r>
          </a:p>
        </p:txBody>
      </p:sp>
      <p:sp>
        <p:nvSpPr>
          <p:cNvPr id="100062" name="HAMTitle"/>
          <p:cNvSpPr txBox="1"/>
          <p:nvPr/>
        </p:nvSpPr>
        <p:spPr>
          <a:xfrm>
            <a:off x="360000" y="720000"/>
            <a:ext cx="11160000" cy="324000"/>
          </a:xfrm>
          <a:prstGeom prst="rect">
            <a:avLst/>
          </a:prstGeom>
          <a:noFill/>
        </p:spPr>
        <p:txBody>
          <a:bodyPr/>
          <a:lstStyle/>
          <a:p>
            <a:pPr algn="ctr"/>
            <a:r>
              <a:rPr lang="en-US" sz="2000" b="1">
                <a:solidFill>
                  <a:srgbClr val="064E3B"/>
                </a:solidFill>
              </a:rPr>
              <a:t>HAM  Principles</a:t>
            </a:r>
          </a:p>
        </p:txBody>
      </p:sp>
      <p:sp>
        <p:nvSpPr>
          <p:cNvPr id="100063" name="H"/>
          <p:cNvSpPr txBox="1"/>
          <p:nvPr/>
        </p:nvSpPr>
        <p:spPr>
          <a:xfrm>
            <a:off x="360000" y="1116000"/>
            <a:ext cx="3420000" cy="1980000"/>
          </a:xfrm>
          <a:prstGeom prst="rect">
            <a:avLst/>
          </a:prstGeom>
          <a:solidFill>
            <a:srgbClr val="059669"/>
          </a:solidFill>
        </p:spPr>
        <p:txBody>
          <a:bodyPr/>
          <a:lstStyle/>
          <a:p>
            <a:pPr algn="ctr"/>
            <a:r>
              <a:rPr lang="en-US" sz="1300">
                <a:solidFill>
                  <a:srgbClr val="FFFFFF"/>
                </a:solidFill>
              </a:rPr>
              <a:t>H</a:t>
            </a:r>
          </a:p>
          <a:p>
            <a:pPr algn="ctr"/>
            <a:r>
              <a:rPr lang="en-US" sz="1300">
                <a:solidFill>
                  <a:srgbClr val="FFFFFF"/>
                </a:solidFill>
              </a:rPr>
              <a:t>HELPFUL</a:t>
            </a:r>
          </a:p>
          <a:p>
            <a:pPr algn="ctr"/>
            <a:endParaRPr lang="en-US" sz="1300">
              <a:solidFill>
                <a:srgbClr val="FFFFFF"/>
              </a:solidFill>
            </a:endParaRPr>
          </a:p>
          <a:p>
            <a:pPr algn="ctr"/>
            <a:r>
              <a:rPr lang="en-US" sz="1300">
                <a:solidFill>
                  <a:srgbClr val="FFFFFF"/>
                </a:solidFill>
              </a:rPr>
              <a:t>Provides actionable, evidence-based nutrition guidance. Always constructive. Redirects off-topic queries gently.</a:t>
            </a:r>
          </a:p>
        </p:txBody>
      </p:sp>
      <p:sp>
        <p:nvSpPr>
          <p:cNvPr id="100064" name="A"/>
          <p:cNvSpPr txBox="1"/>
          <p:nvPr/>
        </p:nvSpPr>
        <p:spPr>
          <a:xfrm>
            <a:off x="4320000" y="1116000"/>
            <a:ext cx="3420000" cy="1980000"/>
          </a:xfrm>
          <a:prstGeom prst="rect">
            <a:avLst/>
          </a:prstGeom>
          <a:solidFill>
            <a:srgbClr val="2563EB"/>
          </a:solidFill>
        </p:spPr>
        <p:txBody>
          <a:bodyPr/>
          <a:lstStyle/>
          <a:p>
            <a:pPr algn="ctr"/>
            <a:r>
              <a:rPr lang="en-US" sz="1300">
                <a:solidFill>
                  <a:srgbClr val="FFFFFF"/>
                </a:solidFill>
              </a:rPr>
              <a:t>A</a:t>
            </a:r>
          </a:p>
          <a:p>
            <a:pPr algn="ctr"/>
            <a:r>
              <a:rPr lang="en-US" sz="1300">
                <a:solidFill>
                  <a:srgbClr val="FFFFFF"/>
                </a:solidFill>
              </a:rPr>
              <a:t>ACCURATE</a:t>
            </a:r>
          </a:p>
          <a:p>
            <a:pPr algn="ctr"/>
            <a:endParaRPr lang="en-US" sz="1300">
              <a:solidFill>
                <a:srgbClr val="FFFFFF"/>
              </a:solidFill>
            </a:endParaRPr>
          </a:p>
          <a:p>
            <a:pPr algn="ctr"/>
            <a:r>
              <a:rPr lang="en-US" sz="1300">
                <a:solidFill>
                  <a:srgbClr val="FFFFFF"/>
                </a:solidFill>
              </a:rPr>
              <a:t>Uses IBM Granite LLM grounded in scientific literature. No hallucinated medical claims. Cites evidence-based principles.</a:t>
            </a:r>
          </a:p>
        </p:txBody>
      </p:sp>
      <p:sp>
        <p:nvSpPr>
          <p:cNvPr id="100065" name="M"/>
          <p:cNvSpPr txBox="1"/>
          <p:nvPr/>
        </p:nvSpPr>
        <p:spPr>
          <a:xfrm>
            <a:off x="8280000" y="1116000"/>
            <a:ext cx="3420000" cy="1980000"/>
          </a:xfrm>
          <a:prstGeom prst="rect">
            <a:avLst/>
          </a:prstGeom>
          <a:solidFill>
            <a:srgbClr val="7C3AED"/>
          </a:solidFill>
        </p:spPr>
        <p:txBody>
          <a:bodyPr/>
          <a:lstStyle/>
          <a:p>
            <a:pPr algn="ctr"/>
            <a:r>
              <a:rPr lang="en-US" sz="1300">
                <a:solidFill>
                  <a:srgbClr val="FFFFFF"/>
                </a:solidFill>
              </a:rPr>
              <a:t>M</a:t>
            </a:r>
          </a:p>
          <a:p>
            <a:pPr algn="ctr"/>
            <a:r>
              <a:rPr lang="en-US" sz="1300">
                <a:solidFill>
                  <a:srgbClr val="FFFFFF"/>
                </a:solidFill>
              </a:rPr>
              <a:t>MINDFUL</a:t>
            </a:r>
          </a:p>
          <a:p>
            <a:pPr algn="ctr"/>
            <a:endParaRPr lang="en-US" sz="1300">
              <a:solidFill>
                <a:srgbClr val="FFFFFF"/>
              </a:solidFill>
            </a:endParaRPr>
          </a:p>
          <a:p>
            <a:pPr algn="ctr"/>
            <a:r>
              <a:rPr lang="en-US" sz="1300">
                <a:solidFill>
                  <a:srgbClr val="FFFFFF"/>
                </a:solidFill>
              </a:rPr>
              <a:t>Respects user dignity, cultural background, and medical sensitivity. Inclusive language. No bias.</a:t>
            </a:r>
          </a:p>
        </p:txBody>
      </p:sp>
      <p:sp>
        <p:nvSpPr>
          <p:cNvPr id="100066" name="GuardTitle"/>
          <p:cNvSpPr txBox="1"/>
          <p:nvPr/>
        </p:nvSpPr>
        <p:spPr>
          <a:xfrm>
            <a:off x="360000" y="3312000"/>
            <a:ext cx="5400000" cy="288000"/>
          </a:xfrm>
          <a:prstGeom prst="rect">
            <a:avLst/>
          </a:prstGeom>
          <a:noFill/>
        </p:spPr>
        <p:txBody>
          <a:bodyPr/>
          <a:lstStyle/>
          <a:p>
            <a:r>
              <a:rPr lang="en-US" sz="1600" b="1">
                <a:solidFill>
                  <a:srgbClr val="064E3B"/>
                </a:solidFill>
              </a:rPr>
              <a:t>Guardrail Layers</a:t>
            </a:r>
          </a:p>
        </p:txBody>
      </p:sp>
      <p:sp>
        <p:nvSpPr>
          <p:cNvPr id="100067" name="InputG"/>
          <p:cNvSpPr txBox="1"/>
          <p:nvPr/>
        </p:nvSpPr>
        <p:spPr>
          <a:xfrm>
            <a:off x="360000" y="3672000"/>
            <a:ext cx="5400000" cy="1800000"/>
          </a:xfrm>
          <a:prstGeom prst="rect">
            <a:avLst/>
          </a:prstGeom>
          <a:solidFill>
            <a:srgbClr val="FEE2E2"/>
          </a:solidFill>
        </p:spPr>
        <p:txBody>
          <a:bodyPr/>
          <a:lstStyle/>
          <a:p>
            <a:r>
              <a:rPr lang="en-US" sz="1300">
                <a:solidFill>
                  <a:srgbClr val="1E293B"/>
                </a:solidFill>
              </a:rPr>
              <a:t>INPUT GUARDRAILS</a:t>
            </a:r>
          </a:p>
          <a:p>
            <a:r>
              <a:rPr lang="en-US" sz="1300">
                <a:solidFill>
                  <a:srgbClr val="1E293B"/>
                </a:solidFill>
              </a:rPr>
              <a:t>• Blocks self-harm / dangerous diet prompts</a:t>
            </a:r>
          </a:p>
          <a:p>
            <a:r>
              <a:rPr lang="en-US" sz="1300">
                <a:solidFill>
                  <a:srgbClr val="1E293B"/>
                </a:solidFill>
              </a:rPr>
              <a:t>• Validates user profile (age, diet type)</a:t>
            </a:r>
          </a:p>
          <a:p>
            <a:r>
              <a:rPr lang="en-US" sz="1300">
                <a:solidFill>
                  <a:srgbClr val="1E293B"/>
                </a:solidFill>
              </a:rPr>
              <a:t>• 5,000-char limit (prompt injection prevention)</a:t>
            </a:r>
          </a:p>
          <a:p>
            <a:r>
              <a:rPr lang="en-US" sz="1300">
                <a:solidFill>
                  <a:srgbClr val="1E293B"/>
                </a:solidFill>
              </a:rPr>
              <a:t>• Off-topic redirect to nutrition topics</a:t>
            </a:r>
          </a:p>
        </p:txBody>
      </p:sp>
      <p:sp>
        <p:nvSpPr>
          <p:cNvPr id="100068" name="OutputG"/>
          <p:cNvSpPr txBox="1"/>
          <p:nvPr/>
        </p:nvSpPr>
        <p:spPr>
          <a:xfrm>
            <a:off x="6300000" y="3672000"/>
            <a:ext cx="5400000" cy="1800000"/>
          </a:xfrm>
          <a:prstGeom prst="rect">
            <a:avLst/>
          </a:prstGeom>
          <a:solidFill>
            <a:srgbClr val="FEE2E2"/>
          </a:solidFill>
        </p:spPr>
        <p:txBody>
          <a:bodyPr/>
          <a:lstStyle/>
          <a:p>
            <a:r>
              <a:rPr lang="en-US" sz="1300">
                <a:solidFill>
                  <a:srgbClr val="1E293B"/>
                </a:solidFill>
              </a:rPr>
              <a:t>OUTPUT GUARDRAILS</a:t>
            </a:r>
          </a:p>
          <a:p>
            <a:r>
              <a:rPr lang="en-US" sz="1300">
                <a:solidFill>
                  <a:srgbClr val="1E293B"/>
                </a:solidFill>
              </a:rPr>
              <a:t>• Filters dangerous medical claims</a:t>
            </a:r>
          </a:p>
          <a:p>
            <a:r>
              <a:rPr lang="en-US" sz="1300">
                <a:solidFill>
                  <a:srgbClr val="1E293B"/>
                </a:solidFill>
              </a:rPr>
              <a:t>• No 'stop your medication' advice</a:t>
            </a:r>
          </a:p>
          <a:p>
            <a:r>
              <a:rPr lang="en-US" sz="1300">
                <a:solidFill>
                  <a:srgbClr val="1E293B"/>
                </a:solidFill>
              </a:rPr>
              <a:t>• HAM tone enforcement on every response</a:t>
            </a:r>
          </a:p>
          <a:p>
            <a:r>
              <a:rPr lang="en-US" sz="1300">
                <a:solidFill>
                  <a:srgbClr val="1E293B"/>
                </a:solidFill>
              </a:rPr>
              <a:t>• Medical disclaimer auto-appended always</a:t>
            </a:r>
          </a:p>
        </p:txBody>
      </p:sp>
      <p:sp>
        <p:nvSpPr>
          <p:cNvPr id="100069"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070"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071" name="SlideTitle"/>
          <p:cNvSpPr txBox="1"/>
          <p:nvPr/>
        </p:nvSpPr>
        <p:spPr>
          <a:xfrm>
            <a:off x="288000" y="72000"/>
            <a:ext cx="11520000" cy="432000"/>
          </a:xfrm>
          <a:prstGeom prst="rect">
            <a:avLst/>
          </a:prstGeom>
          <a:noFill/>
        </p:spPr>
        <p:txBody>
          <a:bodyPr/>
          <a:lstStyle/>
          <a:p>
            <a:r>
              <a:rPr lang="en-US" sz="2600" b="1">
                <a:solidFill>
                  <a:srgbClr val="FFFFFF"/>
                </a:solidFill>
              </a:rPr>
              <a:t>Slide 8: Web Application — 5-Tab Interface</a:t>
            </a:r>
          </a:p>
        </p:txBody>
      </p:sp>
      <p:sp>
        <p:nvSpPr>
          <p:cNvPr id="100072" name="NavBar"/>
          <p:cNvSpPr txBox="1"/>
          <p:nvPr/>
        </p:nvSpPr>
        <p:spPr>
          <a:xfrm>
            <a:off x="360000" y="720000"/>
            <a:ext cx="11160000" cy="360000"/>
          </a:xfrm>
          <a:prstGeom prst="rect">
            <a:avLst/>
          </a:prstGeom>
          <a:solidFill>
            <a:srgbClr val="064E3B"/>
          </a:solidFill>
        </p:spPr>
        <p:txBody>
          <a:bodyPr/>
          <a:lstStyle/>
          <a:p>
            <a:pPr algn="ctr"/>
            <a:r>
              <a:rPr lang="en-US" sz="1600" b="1">
                <a:solidFill>
                  <a:srgbClr val="FFFFFF"/>
                </a:solidFill>
              </a:rPr>
              <a:t>🏠 Home     |     👤 Profile     |     📋 My Plan     |     💬 Chat     |     📁 Saved Plans</a:t>
            </a:r>
          </a:p>
        </p:txBody>
      </p:sp>
      <p:sp>
        <p:nvSpPr>
          <p:cNvPr id="100073" name="Tab1"/>
          <p:cNvSpPr txBox="1"/>
          <p:nvPr/>
        </p:nvSpPr>
        <p:spPr>
          <a:xfrm>
            <a:off x="360000" y="1260000"/>
            <a:ext cx="4140000" cy="1980000"/>
          </a:xfrm>
          <a:prstGeom prst="rect">
            <a:avLst/>
          </a:prstGeom>
          <a:solidFill>
            <a:srgbClr val="F0FDF4"/>
          </a:solidFill>
        </p:spPr>
        <p:txBody>
          <a:bodyPr/>
          <a:lstStyle/>
          <a:p>
            <a:r>
              <a:rPr lang="en-US" sz="1300">
                <a:solidFill>
                  <a:srgbClr val="1E293B"/>
                </a:solidFill>
              </a:rPr>
              <a:t>🏠  HOME TAB</a:t>
            </a:r>
          </a:p>
          <a:p>
            <a:endParaRPr lang="en-US" sz="1300">
              <a:solidFill>
                <a:srgbClr val="1E293B"/>
              </a:solidFill>
            </a:endParaRPr>
          </a:p>
          <a:p>
            <a:r>
              <a:rPr lang="en-US" sz="1300">
                <a:solidFill>
                  <a:srgbClr val="1E293B"/>
                </a:solidFill>
              </a:rPr>
              <a:t>• Hero banner with IBM Granite branding</a:t>
            </a:r>
          </a:p>
          <a:p>
            <a:r>
              <a:rPr lang="en-US" sz="1300">
                <a:solidFill>
                  <a:srgbClr val="1E293B"/>
                </a:solidFill>
              </a:rPr>
              <a:t>• 6 feature cards</a:t>
            </a:r>
          </a:p>
          <a:p>
            <a:r>
              <a:rPr lang="en-US" sz="1300">
                <a:solidFill>
                  <a:srgbClr val="1E293B"/>
                </a:solidFill>
              </a:rPr>
              <a:t>• SDLC phases display</a:t>
            </a:r>
          </a:p>
          <a:p>
            <a:r>
              <a:rPr lang="en-US" sz="1300">
                <a:solidFill>
                  <a:srgbClr val="1E293B"/>
                </a:solidFill>
              </a:rPr>
              <a:t>• CTA buttons</a:t>
            </a:r>
          </a:p>
        </p:txBody>
      </p:sp>
      <p:sp>
        <p:nvSpPr>
          <p:cNvPr id="100074" name="Tab2"/>
          <p:cNvSpPr txBox="1"/>
          <p:nvPr/>
        </p:nvSpPr>
        <p:spPr>
          <a:xfrm>
            <a:off x="4860000" y="1260000"/>
            <a:ext cx="3960000" cy="1980000"/>
          </a:xfrm>
          <a:prstGeom prst="rect">
            <a:avLst/>
          </a:prstGeom>
          <a:solidFill>
            <a:srgbClr val="F0FDF4"/>
          </a:solidFill>
        </p:spPr>
        <p:txBody>
          <a:bodyPr/>
          <a:lstStyle/>
          <a:p>
            <a:r>
              <a:rPr lang="en-US" sz="1300">
                <a:solidFill>
                  <a:srgbClr val="1E293B"/>
                </a:solidFill>
              </a:rPr>
              <a:t>👤  PROFILE TAB</a:t>
            </a:r>
          </a:p>
          <a:p>
            <a:endParaRPr lang="en-US" sz="1300">
              <a:solidFill>
                <a:srgbClr val="1E293B"/>
              </a:solidFill>
            </a:endParaRPr>
          </a:p>
          <a:p>
            <a:r>
              <a:rPr lang="en-US" sz="1300">
                <a:solidFill>
                  <a:srgbClr val="1E293B"/>
                </a:solidFill>
              </a:rPr>
              <a:t>• Name, age, weight, height</a:t>
            </a:r>
          </a:p>
          <a:p>
            <a:r>
              <a:rPr lang="en-US" sz="1300">
                <a:solidFill>
                  <a:srgbClr val="1E293B"/>
                </a:solidFill>
              </a:rPr>
              <a:t>• Diet type selector</a:t>
            </a:r>
          </a:p>
          <a:p>
            <a:r>
              <a:rPr lang="en-US" sz="1300">
                <a:solidFill>
                  <a:srgbClr val="1E293B"/>
                </a:solidFill>
              </a:rPr>
              <a:t>• 12 medical condition checkboxes</a:t>
            </a:r>
          </a:p>
          <a:p>
            <a:r>
              <a:rPr lang="en-US" sz="1300">
                <a:solidFill>
                  <a:srgbClr val="1E293B"/>
                </a:solidFill>
              </a:rPr>
              <a:t>• City, country, health goals</a:t>
            </a:r>
          </a:p>
        </p:txBody>
      </p:sp>
      <p:sp>
        <p:nvSpPr>
          <p:cNvPr id="100075" name="Tab3"/>
          <p:cNvSpPr txBox="1"/>
          <p:nvPr/>
        </p:nvSpPr>
        <p:spPr>
          <a:xfrm>
            <a:off x="9180000" y="1260000"/>
            <a:ext cx="2700000" cy="1980000"/>
          </a:xfrm>
          <a:prstGeom prst="rect">
            <a:avLst/>
          </a:prstGeom>
          <a:solidFill>
            <a:srgbClr val="F0FDF4"/>
          </a:solidFill>
        </p:spPr>
        <p:txBody>
          <a:bodyPr/>
          <a:lstStyle/>
          <a:p>
            <a:r>
              <a:rPr lang="en-US" sz="1300">
                <a:solidFill>
                  <a:srgbClr val="1E293B"/>
                </a:solidFill>
              </a:rPr>
              <a:t>📋  MY PLAN TAB</a:t>
            </a:r>
          </a:p>
          <a:p>
            <a:endParaRPr lang="en-US" sz="1300">
              <a:solidFill>
                <a:srgbClr val="1E293B"/>
              </a:solidFill>
            </a:endParaRPr>
          </a:p>
          <a:p>
            <a:r>
              <a:rPr lang="en-US" sz="1300">
                <a:solidFill>
                  <a:srgbClr val="1E293B"/>
                </a:solidFill>
              </a:rPr>
              <a:t>• IBM Granite generated plan</a:t>
            </a:r>
          </a:p>
          <a:p>
            <a:r>
              <a:rPr lang="en-US" sz="1300">
                <a:solidFill>
                  <a:srgbClr val="1E293B"/>
                </a:solidFill>
              </a:rPr>
              <a:t>• Rendered Markdown output</a:t>
            </a:r>
          </a:p>
          <a:p>
            <a:r>
              <a:rPr lang="en-US" sz="1300">
                <a:solidFill>
                  <a:srgbClr val="1E293B"/>
                </a:solidFill>
              </a:rPr>
              <a:t>• Download .md button</a:t>
            </a:r>
          </a:p>
          <a:p>
            <a:r>
              <a:rPr lang="en-US" sz="1300">
                <a:solidFill>
                  <a:srgbClr val="1E293B"/>
                </a:solidFill>
              </a:rPr>
              <a:t>• Follow-up chat link</a:t>
            </a:r>
          </a:p>
        </p:txBody>
      </p:sp>
      <p:sp>
        <p:nvSpPr>
          <p:cNvPr id="100076" name="Tab4"/>
          <p:cNvSpPr txBox="1"/>
          <p:nvPr/>
        </p:nvSpPr>
        <p:spPr>
          <a:xfrm>
            <a:off x="360000" y="3600000"/>
            <a:ext cx="5400000" cy="1980000"/>
          </a:xfrm>
          <a:prstGeom prst="rect">
            <a:avLst/>
          </a:prstGeom>
          <a:solidFill>
            <a:srgbClr val="F0FDF4"/>
          </a:solidFill>
        </p:spPr>
        <p:txBody>
          <a:bodyPr/>
          <a:lstStyle/>
          <a:p>
            <a:r>
              <a:rPr lang="en-US" sz="1300">
                <a:solidFill>
                  <a:srgbClr val="1E293B"/>
                </a:solidFill>
              </a:rPr>
              <a:t>💬  CHAT TAB</a:t>
            </a:r>
          </a:p>
          <a:p>
            <a:endParaRPr lang="en-US" sz="1300">
              <a:solidFill>
                <a:srgbClr val="1E293B"/>
              </a:solidFill>
            </a:endParaRPr>
          </a:p>
          <a:p>
            <a:r>
              <a:rPr lang="en-US" sz="1300">
                <a:solidFill>
                  <a:srgbClr val="1E293B"/>
                </a:solidFill>
              </a:rPr>
              <a:t>• Real-time agentic chatbot</a:t>
            </a:r>
          </a:p>
          <a:p>
            <a:r>
              <a:rPr lang="en-US" sz="1300">
                <a:solidFill>
                  <a:srgbClr val="1E293B"/>
                </a:solidFill>
              </a:rPr>
              <a:t>• 6 quick-prompt buttons</a:t>
            </a:r>
          </a:p>
          <a:p>
            <a:r>
              <a:rPr lang="en-US" sz="1300">
                <a:solidFill>
                  <a:srgbClr val="1E293B"/>
                </a:solidFill>
              </a:rPr>
              <a:t>• Typing indicator animation</a:t>
            </a:r>
          </a:p>
          <a:p>
            <a:r>
              <a:rPr lang="en-US" sz="1300">
                <a:solidFill>
                  <a:srgbClr val="1E293B"/>
                </a:solidFill>
              </a:rPr>
              <a:t>• Tool usage badge per response</a:t>
            </a:r>
          </a:p>
          <a:p>
            <a:r>
              <a:rPr lang="en-US" sz="1300">
                <a:solidFill>
                  <a:srgbClr val="1E293B"/>
                </a:solidFill>
              </a:rPr>
              <a:t>• Ctrl+Enter to send</a:t>
            </a:r>
          </a:p>
        </p:txBody>
      </p:sp>
      <p:sp>
        <p:nvSpPr>
          <p:cNvPr id="100077" name="Tab5"/>
          <p:cNvSpPr txBox="1"/>
          <p:nvPr/>
        </p:nvSpPr>
        <p:spPr>
          <a:xfrm>
            <a:off x="6300000" y="3600000"/>
            <a:ext cx="5400000" cy="1980000"/>
          </a:xfrm>
          <a:prstGeom prst="rect">
            <a:avLst/>
          </a:prstGeom>
          <a:solidFill>
            <a:srgbClr val="F0FDF4"/>
          </a:solidFill>
        </p:spPr>
        <p:txBody>
          <a:bodyPr/>
          <a:lstStyle/>
          <a:p>
            <a:r>
              <a:rPr lang="en-US" sz="1300">
                <a:solidFill>
                  <a:srgbClr val="1E293B"/>
                </a:solidFill>
              </a:rPr>
              <a:t>📁  SAVED PLANS TAB</a:t>
            </a:r>
          </a:p>
          <a:p>
            <a:endParaRPr lang="en-US" sz="1300">
              <a:solidFill>
                <a:srgbClr val="1E293B"/>
              </a:solidFill>
            </a:endParaRPr>
          </a:p>
          <a:p>
            <a:r>
              <a:rPr lang="en-US" sz="1300">
                <a:solidFill>
                  <a:srgbClr val="1E293B"/>
                </a:solidFill>
              </a:rPr>
              <a:t>• Grid of all .md plan files</a:t>
            </a:r>
          </a:p>
          <a:p>
            <a:r>
              <a:rPr lang="en-US" sz="1300">
                <a:solidFill>
                  <a:srgbClr val="1E293B"/>
                </a:solidFill>
              </a:rPr>
              <a:t>• File name, size, timestamp</a:t>
            </a:r>
          </a:p>
          <a:p>
            <a:r>
              <a:rPr lang="en-US" sz="1300">
                <a:solidFill>
                  <a:srgbClr val="1E293B"/>
                </a:solidFill>
              </a:rPr>
              <a:t>• Download button per plan</a:t>
            </a:r>
          </a:p>
          <a:p>
            <a:r>
              <a:rPr lang="en-US" sz="1300">
                <a:solidFill>
                  <a:srgbClr val="1E293B"/>
                </a:solidFill>
              </a:rPr>
              <a:t>• Auto-refreshes on tab open</a:t>
            </a:r>
          </a:p>
        </p:txBody>
      </p:sp>
      <p:sp>
        <p:nvSpPr>
          <p:cNvPr id="100078"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079"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080" name="SlideTitle"/>
          <p:cNvSpPr txBox="1"/>
          <p:nvPr/>
        </p:nvSpPr>
        <p:spPr>
          <a:xfrm>
            <a:off x="288000" y="72000"/>
            <a:ext cx="11520000" cy="432000"/>
          </a:xfrm>
          <a:prstGeom prst="rect">
            <a:avLst/>
          </a:prstGeom>
          <a:noFill/>
        </p:spPr>
        <p:txBody>
          <a:bodyPr/>
          <a:lstStyle/>
          <a:p>
            <a:r>
              <a:rPr lang="en-US" sz="2600" b="1">
                <a:solidFill>
                  <a:srgbClr val="FFFFFF"/>
                </a:solidFill>
              </a:rPr>
              <a:t>Slide 9: User Profile — Data Collection</a:t>
            </a:r>
          </a:p>
        </p:txBody>
      </p:sp>
      <p:sp>
        <p:nvSpPr>
          <p:cNvPr id="100081" name="FormTitle"/>
          <p:cNvSpPr txBox="1"/>
          <p:nvPr/>
        </p:nvSpPr>
        <p:spPr>
          <a:xfrm>
            <a:off x="360000" y="720000"/>
            <a:ext cx="11160000" cy="288000"/>
          </a:xfrm>
          <a:prstGeom prst="rect">
            <a:avLst/>
          </a:prstGeom>
          <a:noFill/>
        </p:spPr>
        <p:txBody>
          <a:bodyPr/>
          <a:lstStyle/>
          <a:p>
            <a:r>
              <a:rPr lang="en-US" sz="1800" b="1">
                <a:solidFill>
                  <a:srgbClr val="064E3B"/>
                </a:solidFill>
              </a:rPr>
              <a:t>Profile Form — 4 Sections</a:t>
            </a:r>
          </a:p>
        </p:txBody>
      </p:sp>
      <p:sp>
        <p:nvSpPr>
          <p:cNvPr id="100082" name="Sec1"/>
          <p:cNvSpPr txBox="1"/>
          <p:nvPr/>
        </p:nvSpPr>
        <p:spPr>
          <a:xfrm>
            <a:off x="360000" y="1116000"/>
            <a:ext cx="5400000" cy="1440000"/>
          </a:xfrm>
          <a:prstGeom prst="rect">
            <a:avLst/>
          </a:prstGeom>
          <a:solidFill>
            <a:srgbClr val="EFF6FF"/>
          </a:solidFill>
        </p:spPr>
        <p:txBody>
          <a:bodyPr/>
          <a:lstStyle/>
          <a:p>
            <a:r>
              <a:rPr lang="en-US" sz="1400">
                <a:solidFill>
                  <a:srgbClr val="1E293B"/>
                </a:solidFill>
              </a:rPr>
              <a:t>📋  PERSONAL INFORMATION</a:t>
            </a:r>
          </a:p>
          <a:p>
            <a:r>
              <a:rPr lang="en-US" sz="1400">
                <a:solidFill>
                  <a:srgbClr val="1E293B"/>
                </a:solidFill>
              </a:rPr>
              <a:t>• Full Name  (required)</a:t>
            </a:r>
          </a:p>
          <a:p>
            <a:r>
              <a:rPr lang="en-US" sz="1400">
                <a:solidFill>
                  <a:srgbClr val="1E293B"/>
                </a:solidFill>
              </a:rPr>
              <a:t>• Age  (1–120, required)</a:t>
            </a:r>
          </a:p>
          <a:p>
            <a:r>
              <a:rPr lang="en-US" sz="1400">
                <a:solidFill>
                  <a:srgbClr val="1E293B"/>
                </a:solidFill>
              </a:rPr>
              <a:t>• Weight in kg  (optional)</a:t>
            </a:r>
          </a:p>
          <a:p>
            <a:r>
              <a:rPr lang="en-US" sz="1400">
                <a:solidFill>
                  <a:srgbClr val="1E293B"/>
                </a:solidFill>
              </a:rPr>
              <a:t>• Height in cm  (optional)</a:t>
            </a:r>
          </a:p>
        </p:txBody>
      </p:sp>
      <p:sp>
        <p:nvSpPr>
          <p:cNvPr id="100083" name="Sec2"/>
          <p:cNvSpPr txBox="1"/>
          <p:nvPr/>
        </p:nvSpPr>
        <p:spPr>
          <a:xfrm>
            <a:off x="6300000" y="1116000"/>
            <a:ext cx="5400000" cy="1440000"/>
          </a:xfrm>
          <a:prstGeom prst="rect">
            <a:avLst/>
          </a:prstGeom>
          <a:solidFill>
            <a:srgbClr val="EFF6FF"/>
          </a:solidFill>
        </p:spPr>
        <p:txBody>
          <a:bodyPr/>
          <a:lstStyle/>
          <a:p>
            <a:r>
              <a:rPr lang="en-US" sz="1400">
                <a:solidFill>
                  <a:srgbClr val="1E293B"/>
                </a:solidFill>
              </a:rPr>
              <a:t>🥦  DIET PREFERENCES</a:t>
            </a:r>
          </a:p>
          <a:p>
            <a:r>
              <a:rPr lang="en-US" sz="1400">
                <a:solidFill>
                  <a:srgbClr val="1E293B"/>
                </a:solidFill>
              </a:rPr>
              <a:t>• Vegetarian / Vegan / Non-Veg</a:t>
            </a:r>
          </a:p>
          <a:p>
            <a:r>
              <a:rPr lang="en-US" sz="1400">
                <a:solidFill>
                  <a:srgbClr val="1E293B"/>
                </a:solidFill>
              </a:rPr>
              <a:t>• Pescatarian / Flexitarian</a:t>
            </a:r>
          </a:p>
          <a:p>
            <a:r>
              <a:rPr lang="en-US" sz="1400">
                <a:solidFill>
                  <a:srgbClr val="1E293B"/>
                </a:solidFill>
              </a:rPr>
              <a:t>• Health Goals (8 options)</a:t>
            </a:r>
          </a:p>
          <a:p>
            <a:r>
              <a:rPr lang="en-US" sz="1400">
                <a:solidFill>
                  <a:srgbClr val="1E293B"/>
                </a:solidFill>
              </a:rPr>
              <a:t>• e.g. Manage blood sugar</a:t>
            </a:r>
          </a:p>
        </p:txBody>
      </p:sp>
      <p:sp>
        <p:nvSpPr>
          <p:cNvPr id="100084" name="Sec3"/>
          <p:cNvSpPr txBox="1"/>
          <p:nvPr/>
        </p:nvSpPr>
        <p:spPr>
          <a:xfrm>
            <a:off x="360000" y="2880000"/>
            <a:ext cx="5400000" cy="1800000"/>
          </a:xfrm>
          <a:prstGeom prst="rect">
            <a:avLst/>
          </a:prstGeom>
          <a:solidFill>
            <a:srgbClr val="EFF6FF"/>
          </a:solidFill>
        </p:spPr>
        <p:txBody>
          <a:bodyPr/>
          <a:lstStyle/>
          <a:p>
            <a:r>
              <a:rPr lang="en-US" sz="1300">
                <a:solidFill>
                  <a:srgbClr val="1E293B"/>
                </a:solidFill>
              </a:rPr>
              <a:t>🏥  MEDICAL HISTORY (12 checkboxes)</a:t>
            </a:r>
          </a:p>
          <a:p>
            <a:r>
              <a:rPr lang="en-US" sz="1300">
                <a:solidFill>
                  <a:srgbClr val="1E293B"/>
                </a:solidFill>
              </a:rPr>
              <a:t>• Type 2 Diabetes  •  Type 1 Diabetes</a:t>
            </a:r>
          </a:p>
          <a:p>
            <a:r>
              <a:rPr lang="en-US" sz="1300">
                <a:solidFill>
                  <a:srgbClr val="1E293B"/>
                </a:solidFill>
              </a:rPr>
              <a:t>• High Blood Pressure  •  High Cholesterol</a:t>
            </a:r>
          </a:p>
          <a:p>
            <a:r>
              <a:rPr lang="en-US" sz="1300">
                <a:solidFill>
                  <a:srgbClr val="1E293B"/>
                </a:solidFill>
              </a:rPr>
              <a:t>• Thyroid  •  Kidney Disease  •  Heart Disease</a:t>
            </a:r>
          </a:p>
          <a:p>
            <a:r>
              <a:rPr lang="en-US" sz="1300">
                <a:solidFill>
                  <a:srgbClr val="1E293B"/>
                </a:solidFill>
              </a:rPr>
              <a:t>• PCOS/PCOD  •  Gluten/Lactose Intolerance</a:t>
            </a:r>
          </a:p>
          <a:p>
            <a:r>
              <a:rPr lang="en-US" sz="1300">
                <a:solidFill>
                  <a:srgbClr val="1E293B"/>
                </a:solidFill>
              </a:rPr>
              <a:t>• Anemia  •  Osteoporosis  •  Other (text field)</a:t>
            </a:r>
          </a:p>
        </p:txBody>
      </p:sp>
      <p:sp>
        <p:nvSpPr>
          <p:cNvPr id="100085" name="Sec4"/>
          <p:cNvSpPr txBox="1"/>
          <p:nvPr/>
        </p:nvSpPr>
        <p:spPr>
          <a:xfrm>
            <a:off x="6300000" y="2880000"/>
            <a:ext cx="5400000" cy="1800000"/>
          </a:xfrm>
          <a:prstGeom prst="rect">
            <a:avLst/>
          </a:prstGeom>
          <a:solidFill>
            <a:srgbClr val="EFF6FF"/>
          </a:solidFill>
        </p:spPr>
        <p:txBody>
          <a:bodyPr/>
          <a:lstStyle/>
          <a:p>
            <a:r>
              <a:rPr lang="en-US" sz="1300">
                <a:solidFill>
                  <a:srgbClr val="1E293B"/>
                </a:solidFill>
              </a:rPr>
              <a:t>📍  LOCATION</a:t>
            </a:r>
          </a:p>
          <a:p>
            <a:r>
              <a:rPr lang="en-US" sz="1300">
                <a:solidFill>
                  <a:srgbClr val="1E293B"/>
                </a:solidFill>
              </a:rPr>
              <a:t>• City  (required)</a:t>
            </a:r>
          </a:p>
          <a:p>
            <a:r>
              <a:rPr lang="en-US" sz="1300">
                <a:solidFill>
                  <a:srgbClr val="1E293B"/>
                </a:solidFill>
              </a:rPr>
              <a:t>• Country  (required)</a:t>
            </a:r>
          </a:p>
          <a:p>
            <a:endParaRPr lang="en-US" sz="1300">
              <a:solidFill>
                <a:srgbClr val="1E293B"/>
              </a:solidFill>
            </a:endParaRPr>
          </a:p>
          <a:p>
            <a:r>
              <a:rPr lang="en-US" sz="1300">
                <a:solidFill>
                  <a:srgbClr val="1E293B"/>
                </a:solidFill>
              </a:rPr>
              <a:t>Used for cultural food recommendations and locally available ingredients.</a:t>
            </a:r>
          </a:p>
          <a:p>
            <a:endParaRPr lang="en-US" sz="1300">
              <a:solidFill>
                <a:srgbClr val="1E293B"/>
              </a:solidFill>
            </a:endParaRPr>
          </a:p>
          <a:p>
            <a:r>
              <a:rPr lang="en-US" sz="1300">
                <a:solidFill>
                  <a:srgbClr val="1E293B"/>
                </a:solidFill>
              </a:rPr>
              <a:t>Example: Mumbai, India → Jowar, bajra, karela, makhana suggestions</a:t>
            </a:r>
          </a:p>
        </p:txBody>
      </p:sp>
      <p:sp>
        <p:nvSpPr>
          <p:cNvPr id="100086" name="ValNote"/>
          <p:cNvSpPr txBox="1"/>
          <p:nvPr/>
        </p:nvSpPr>
        <p:spPr>
          <a:xfrm>
            <a:off x="360000" y="5040000"/>
            <a:ext cx="11160000" cy="360000"/>
          </a:xfrm>
          <a:prstGeom prst="rect">
            <a:avLst/>
          </a:prstGeom>
          <a:solidFill>
            <a:srgbClr val="D1FAE5"/>
          </a:solidFill>
        </p:spPr>
        <p:txBody>
          <a:bodyPr/>
          <a:lstStyle/>
          <a:p>
            <a:pPr algn="ctr"/>
            <a:r>
              <a:rPr lang="en-US" sz="1400">
                <a:solidFill>
                  <a:srgbClr val="064E3B"/>
                </a:solidFill>
              </a:rPr>
              <a:t>All fields validated at both frontend (HTML5) and backend (Python guardrails.py) before IBM Granite is called.</a:t>
            </a:r>
          </a:p>
        </p:txBody>
      </p:sp>
      <p:sp>
        <p:nvSpPr>
          <p:cNvPr id="100087"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088"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089" name="SlideTitle"/>
          <p:cNvSpPr txBox="1"/>
          <p:nvPr/>
        </p:nvSpPr>
        <p:spPr>
          <a:xfrm>
            <a:off x="288000" y="72000"/>
            <a:ext cx="11520000" cy="432000"/>
          </a:xfrm>
          <a:prstGeom prst="rect">
            <a:avLst/>
          </a:prstGeom>
          <a:noFill/>
        </p:spPr>
        <p:txBody>
          <a:bodyPr/>
          <a:lstStyle/>
          <a:p>
            <a:r>
              <a:rPr lang="en-US" sz="2600" b="1">
                <a:solidFill>
                  <a:srgbClr val="FFFFFF"/>
                </a:solidFill>
              </a:rPr>
              <a:t>Slide 10: Sample User Profile — Priya Sharma</a:t>
            </a:r>
          </a:p>
        </p:txBody>
      </p:sp>
      <p:sp>
        <p:nvSpPr>
          <p:cNvPr id="100090" name="ProfileCard"/>
          <p:cNvSpPr txBox="1"/>
          <p:nvPr/>
        </p:nvSpPr>
        <p:spPr>
          <a:xfrm>
            <a:off x="360000" y="720000"/>
            <a:ext cx="11160000" cy="288000"/>
          </a:xfrm>
          <a:prstGeom prst="rect">
            <a:avLst/>
          </a:prstGeom>
          <a:noFill/>
        </p:spPr>
        <p:txBody>
          <a:bodyPr/>
          <a:lstStyle/>
          <a:p>
            <a:pPr algn="ctr"/>
            <a:r>
              <a:rPr lang="en-US" sz="1800" b="1">
                <a:solidFill>
                  <a:srgbClr val="064E3B"/>
                </a:solidFill>
              </a:rPr>
              <a:t>Sample Profile Used in Demonstration</a:t>
            </a:r>
          </a:p>
        </p:txBody>
      </p:sp>
      <p:sp>
        <p:nvSpPr>
          <p:cNvPr id="100091" name="PRow1"/>
          <p:cNvSpPr txBox="1"/>
          <p:nvPr/>
        </p:nvSpPr>
        <p:spPr>
          <a:xfrm>
            <a:off x="360000" y="1152000"/>
            <a:ext cx="2520000" cy="432000"/>
          </a:xfrm>
          <a:prstGeom prst="rect">
            <a:avLst/>
          </a:prstGeom>
          <a:solidFill>
            <a:srgbClr val="064E3B"/>
          </a:solidFill>
        </p:spPr>
        <p:txBody>
          <a:bodyPr/>
          <a:lstStyle/>
          <a:p>
            <a:r>
              <a:rPr lang="en-US" sz="1500" b="1">
                <a:solidFill>
                  <a:srgbClr val="FFFFFF"/>
                </a:solidFill>
              </a:rPr>
              <a:t>👤  Name</a:t>
            </a:r>
          </a:p>
        </p:txBody>
      </p:sp>
      <p:sp>
        <p:nvSpPr>
          <p:cNvPr id="100092" name="PVal1"/>
          <p:cNvSpPr txBox="1"/>
          <p:nvPr/>
        </p:nvSpPr>
        <p:spPr>
          <a:xfrm>
            <a:off x="2952000" y="1152000"/>
            <a:ext cx="8280000" cy="432000"/>
          </a:xfrm>
          <a:prstGeom prst="rect">
            <a:avLst/>
          </a:prstGeom>
          <a:solidFill>
            <a:srgbClr val="ECFDF5"/>
          </a:solidFill>
        </p:spPr>
        <p:txBody>
          <a:bodyPr/>
          <a:lstStyle/>
          <a:p>
            <a:r>
              <a:rPr lang="en-US" sz="1500">
                <a:solidFill>
                  <a:srgbClr val="1E293B"/>
                </a:solidFill>
              </a:rPr>
              <a:t>Priya Sharma</a:t>
            </a:r>
          </a:p>
        </p:txBody>
      </p:sp>
      <p:sp>
        <p:nvSpPr>
          <p:cNvPr id="100093" name="PRow2"/>
          <p:cNvSpPr txBox="1"/>
          <p:nvPr/>
        </p:nvSpPr>
        <p:spPr>
          <a:xfrm>
            <a:off x="360000" y="1656000"/>
            <a:ext cx="2520000" cy="432000"/>
          </a:xfrm>
          <a:prstGeom prst="rect">
            <a:avLst/>
          </a:prstGeom>
          <a:solidFill>
            <a:srgbClr val="064E3B"/>
          </a:solidFill>
        </p:spPr>
        <p:txBody>
          <a:bodyPr/>
          <a:lstStyle/>
          <a:p>
            <a:r>
              <a:rPr lang="en-US" sz="1500" b="1">
                <a:solidFill>
                  <a:srgbClr val="FFFFFF"/>
                </a:solidFill>
              </a:rPr>
              <a:t>🎂  Age / BMI</a:t>
            </a:r>
          </a:p>
        </p:txBody>
      </p:sp>
      <p:sp>
        <p:nvSpPr>
          <p:cNvPr id="100094" name="PVal2"/>
          <p:cNvSpPr txBox="1"/>
          <p:nvPr/>
        </p:nvSpPr>
        <p:spPr>
          <a:xfrm>
            <a:off x="2952000" y="1656000"/>
            <a:ext cx="8280000" cy="432000"/>
          </a:xfrm>
          <a:prstGeom prst="rect">
            <a:avLst/>
          </a:prstGeom>
          <a:solidFill>
            <a:srgbClr val="ECFDF5"/>
          </a:solidFill>
        </p:spPr>
        <p:txBody>
          <a:bodyPr/>
          <a:lstStyle/>
          <a:p>
            <a:r>
              <a:rPr lang="en-US" sz="1500">
                <a:solidFill>
                  <a:srgbClr val="1E293B"/>
                </a:solidFill>
              </a:rPr>
              <a:t>32 years  |  68 kg  |  162 cm  |  BMI: 25.9 (Overweight)</a:t>
            </a:r>
          </a:p>
        </p:txBody>
      </p:sp>
      <p:sp>
        <p:nvSpPr>
          <p:cNvPr id="100095" name="PRow3"/>
          <p:cNvSpPr txBox="1"/>
          <p:nvPr/>
        </p:nvSpPr>
        <p:spPr>
          <a:xfrm>
            <a:off x="360000" y="2160000"/>
            <a:ext cx="2520000" cy="432000"/>
          </a:xfrm>
          <a:prstGeom prst="rect">
            <a:avLst/>
          </a:prstGeom>
          <a:solidFill>
            <a:srgbClr val="064E3B"/>
          </a:solidFill>
        </p:spPr>
        <p:txBody>
          <a:bodyPr/>
          <a:lstStyle/>
          <a:p>
            <a:r>
              <a:rPr lang="en-US" sz="1500" b="1">
                <a:solidFill>
                  <a:srgbClr val="FFFFFF"/>
                </a:solidFill>
              </a:rPr>
              <a:t>🥦  Diet</a:t>
            </a:r>
          </a:p>
        </p:txBody>
      </p:sp>
      <p:sp>
        <p:nvSpPr>
          <p:cNvPr id="100096" name="PVal3"/>
          <p:cNvSpPr txBox="1"/>
          <p:nvPr/>
        </p:nvSpPr>
        <p:spPr>
          <a:xfrm>
            <a:off x="2952000" y="2160000"/>
            <a:ext cx="8280000" cy="432000"/>
          </a:xfrm>
          <a:prstGeom prst="rect">
            <a:avLst/>
          </a:prstGeom>
          <a:solidFill>
            <a:srgbClr val="ECFDF5"/>
          </a:solidFill>
        </p:spPr>
        <p:txBody>
          <a:bodyPr/>
          <a:lstStyle/>
          <a:p>
            <a:r>
              <a:rPr lang="en-US" sz="1500">
                <a:solidFill>
                  <a:srgbClr val="1E293B"/>
                </a:solidFill>
              </a:rPr>
              <a:t>Vegetarian</a:t>
            </a:r>
          </a:p>
        </p:txBody>
      </p:sp>
      <p:sp>
        <p:nvSpPr>
          <p:cNvPr id="100097" name="PRow4"/>
          <p:cNvSpPr txBox="1"/>
          <p:nvPr/>
        </p:nvSpPr>
        <p:spPr>
          <a:xfrm>
            <a:off x="360000" y="2664000"/>
            <a:ext cx="2520000" cy="432000"/>
          </a:xfrm>
          <a:prstGeom prst="rect">
            <a:avLst/>
          </a:prstGeom>
          <a:solidFill>
            <a:srgbClr val="064E3B"/>
          </a:solidFill>
        </p:spPr>
        <p:txBody>
          <a:bodyPr/>
          <a:lstStyle/>
          <a:p>
            <a:r>
              <a:rPr lang="en-US" sz="1500" b="1">
                <a:solidFill>
                  <a:srgbClr val="FFFFFF"/>
                </a:solidFill>
              </a:rPr>
              <a:t>🏥  Medical</a:t>
            </a:r>
          </a:p>
        </p:txBody>
      </p:sp>
      <p:sp>
        <p:nvSpPr>
          <p:cNvPr id="100098" name="PVal4"/>
          <p:cNvSpPr txBox="1"/>
          <p:nvPr/>
        </p:nvSpPr>
        <p:spPr>
          <a:xfrm>
            <a:off x="2952000" y="2664000"/>
            <a:ext cx="8280000" cy="432000"/>
          </a:xfrm>
          <a:prstGeom prst="rect">
            <a:avLst/>
          </a:prstGeom>
          <a:solidFill>
            <a:srgbClr val="FEE2E2"/>
          </a:solidFill>
        </p:spPr>
        <p:txBody>
          <a:bodyPr/>
          <a:lstStyle/>
          <a:p>
            <a:r>
              <a:rPr lang="en-US" sz="1500">
                <a:solidFill>
                  <a:srgbClr val="DC2626"/>
                </a:solidFill>
              </a:rPr>
              <a:t>Type 2 Diabetes  +  High Blood Pressure</a:t>
            </a:r>
          </a:p>
        </p:txBody>
      </p:sp>
      <p:sp>
        <p:nvSpPr>
          <p:cNvPr id="100099" name="PRow5"/>
          <p:cNvSpPr txBox="1"/>
          <p:nvPr/>
        </p:nvSpPr>
        <p:spPr>
          <a:xfrm>
            <a:off x="360000" y="3168000"/>
            <a:ext cx="2520000" cy="432000"/>
          </a:xfrm>
          <a:prstGeom prst="rect">
            <a:avLst/>
          </a:prstGeom>
          <a:solidFill>
            <a:srgbClr val="064E3B"/>
          </a:solidFill>
        </p:spPr>
        <p:txBody>
          <a:bodyPr/>
          <a:lstStyle/>
          <a:p>
            <a:r>
              <a:rPr lang="en-US" sz="1500" b="1">
                <a:solidFill>
                  <a:srgbClr val="FFFFFF"/>
                </a:solidFill>
              </a:rPr>
              <a:t>📍  Location</a:t>
            </a:r>
          </a:p>
        </p:txBody>
      </p:sp>
      <p:sp>
        <p:nvSpPr>
          <p:cNvPr id="100100" name="PVal5"/>
          <p:cNvSpPr txBox="1"/>
          <p:nvPr/>
        </p:nvSpPr>
        <p:spPr>
          <a:xfrm>
            <a:off x="2952000" y="3168000"/>
            <a:ext cx="8280000" cy="432000"/>
          </a:xfrm>
          <a:prstGeom prst="rect">
            <a:avLst/>
          </a:prstGeom>
          <a:solidFill>
            <a:srgbClr val="ECFDF5"/>
          </a:solidFill>
        </p:spPr>
        <p:txBody>
          <a:bodyPr/>
          <a:lstStyle/>
          <a:p>
            <a:r>
              <a:rPr lang="en-US" sz="1500">
                <a:solidFill>
                  <a:srgbClr val="1E293B"/>
                </a:solidFill>
              </a:rPr>
              <a:t>Mumbai, India</a:t>
            </a:r>
          </a:p>
        </p:txBody>
      </p:sp>
      <p:sp>
        <p:nvSpPr>
          <p:cNvPr id="100101" name="PRow6"/>
          <p:cNvSpPr txBox="1"/>
          <p:nvPr/>
        </p:nvSpPr>
        <p:spPr>
          <a:xfrm>
            <a:off x="360000" y="3672000"/>
            <a:ext cx="2520000" cy="432000"/>
          </a:xfrm>
          <a:prstGeom prst="rect">
            <a:avLst/>
          </a:prstGeom>
          <a:solidFill>
            <a:srgbClr val="064E3B"/>
          </a:solidFill>
        </p:spPr>
        <p:txBody>
          <a:bodyPr/>
          <a:lstStyle/>
          <a:p>
            <a:r>
              <a:rPr lang="en-US" sz="1500" b="1">
                <a:solidFill>
                  <a:srgbClr val="FFFFFF"/>
                </a:solidFill>
              </a:rPr>
              <a:t>🎯  Goal</a:t>
            </a:r>
          </a:p>
        </p:txBody>
      </p:sp>
      <p:sp>
        <p:nvSpPr>
          <p:cNvPr id="100102" name="PVal6"/>
          <p:cNvSpPr txBox="1"/>
          <p:nvPr/>
        </p:nvSpPr>
        <p:spPr>
          <a:xfrm>
            <a:off x="2952000" y="3672000"/>
            <a:ext cx="8280000" cy="432000"/>
          </a:xfrm>
          <a:prstGeom prst="rect">
            <a:avLst/>
          </a:prstGeom>
          <a:solidFill>
            <a:srgbClr val="ECFDF5"/>
          </a:solidFill>
        </p:spPr>
        <p:txBody>
          <a:bodyPr/>
          <a:lstStyle/>
          <a:p>
            <a:r>
              <a:rPr lang="en-US" sz="1500">
                <a:solidFill>
                  <a:srgbClr val="1E293B"/>
                </a:solidFill>
              </a:rPr>
              <a:t>Manage blood sugar levels</a:t>
            </a:r>
          </a:p>
        </p:txBody>
      </p:sp>
      <p:sp>
        <p:nvSpPr>
          <p:cNvPr id="100103" name="Note"/>
          <p:cNvSpPr txBox="1"/>
          <p:nvPr/>
        </p:nvSpPr>
        <p:spPr>
          <a:xfrm>
            <a:off x="360000" y="4320000"/>
            <a:ext cx="11160000" cy="720000"/>
          </a:xfrm>
          <a:prstGeom prst="rect">
            <a:avLst/>
          </a:prstGeom>
          <a:solidFill>
            <a:srgbClr val="D1FAE5"/>
          </a:solidFill>
        </p:spPr>
        <p:txBody>
          <a:bodyPr/>
          <a:lstStyle/>
          <a:p>
            <a:r>
              <a:rPr lang="en-US" sz="1400">
                <a:solidFill>
                  <a:srgbClr val="065F46"/>
                </a:solidFill>
              </a:rPr>
              <a:t>This profile drives the IBM Granite prompt — the model generates culturally appropriate Indian foods, addresses T2 Diabetes + BP, and follows DASH Diet principles.</a:t>
            </a:r>
          </a:p>
        </p:txBody>
      </p:sp>
      <p:sp>
        <p:nvSpPr>
          <p:cNvPr id="100104"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105"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106" name="SlideTitle"/>
          <p:cNvSpPr txBox="1"/>
          <p:nvPr/>
        </p:nvSpPr>
        <p:spPr>
          <a:xfrm>
            <a:off x="288000" y="72000"/>
            <a:ext cx="11520000" cy="432000"/>
          </a:xfrm>
          <a:prstGeom prst="rect">
            <a:avLst/>
          </a:prstGeom>
          <a:noFill/>
        </p:spPr>
        <p:txBody>
          <a:bodyPr/>
          <a:lstStyle/>
          <a:p>
            <a:r>
              <a:rPr lang="en-US" sz="2600" b="1">
                <a:solidFill>
                  <a:srgbClr val="FFFFFF"/>
                </a:solidFill>
              </a:rPr>
              <a:t>Slide 11: Daily Macro Targets (from .md Plan)</a:t>
            </a:r>
          </a:p>
        </p:txBody>
      </p:sp>
      <p:sp>
        <p:nvSpPr>
          <p:cNvPr id="100107" name="MacroTitle"/>
          <p:cNvSpPr txBox="1"/>
          <p:nvPr/>
        </p:nvSpPr>
        <p:spPr>
          <a:xfrm>
            <a:off x="360000" y="720000"/>
            <a:ext cx="11160000" cy="324000"/>
          </a:xfrm>
          <a:prstGeom prst="rect">
            <a:avLst/>
          </a:prstGeom>
          <a:noFill/>
        </p:spPr>
        <p:txBody>
          <a:bodyPr/>
          <a:lstStyle/>
          <a:p>
            <a:pPr algn="ctr"/>
            <a:r>
              <a:rPr lang="en-US" sz="1700" b="1">
                <a:solidFill>
                  <a:srgbClr val="064E3B"/>
                </a:solidFill>
              </a:rPr>
              <a:t>Daily Caloric &amp; Macro Targets — Priya Sharma (Diabetes + Hypertension)</a:t>
            </a:r>
          </a:p>
        </p:txBody>
      </p:sp>
      <p:sp>
        <p:nvSpPr>
          <p:cNvPr id="100108" name="MacroHdr"/>
          <p:cNvSpPr txBox="1"/>
          <p:nvPr/>
        </p:nvSpPr>
        <p:spPr>
          <a:xfrm>
            <a:off x="360000" y="1152000"/>
            <a:ext cx="3600000" cy="360000"/>
          </a:xfrm>
          <a:prstGeom prst="rect">
            <a:avLst/>
          </a:prstGeom>
          <a:solidFill>
            <a:srgbClr val="064E3B"/>
          </a:solidFill>
        </p:spPr>
        <p:txBody>
          <a:bodyPr/>
          <a:lstStyle/>
          <a:p>
            <a:pPr algn="ctr"/>
            <a:r>
              <a:rPr lang="en-US" sz="1500" b="1">
                <a:solidFill>
                  <a:srgbClr val="FFFFFF"/>
                </a:solidFill>
              </a:rPr>
              <a:t>Nutrient</a:t>
            </a:r>
          </a:p>
        </p:txBody>
      </p:sp>
      <p:sp>
        <p:nvSpPr>
          <p:cNvPr id="100109" name="TargHdr"/>
          <p:cNvSpPr txBox="1"/>
          <p:nvPr/>
        </p:nvSpPr>
        <p:spPr>
          <a:xfrm>
            <a:off x="4032000" y="1152000"/>
            <a:ext cx="3600000" cy="360000"/>
          </a:xfrm>
          <a:prstGeom prst="rect">
            <a:avLst/>
          </a:prstGeom>
          <a:solidFill>
            <a:srgbClr val="064E3B"/>
          </a:solidFill>
        </p:spPr>
        <p:txBody>
          <a:bodyPr/>
          <a:lstStyle/>
          <a:p>
            <a:pPr algn="ctr"/>
            <a:r>
              <a:rPr lang="en-US" sz="1500" b="1">
                <a:solidFill>
                  <a:srgbClr val="FFFFFF"/>
                </a:solidFill>
              </a:rPr>
              <a:t>Daily Target</a:t>
            </a:r>
          </a:p>
        </p:txBody>
      </p:sp>
      <p:sp>
        <p:nvSpPr>
          <p:cNvPr id="100110" name="RatHdr"/>
          <p:cNvSpPr txBox="1"/>
          <p:nvPr/>
        </p:nvSpPr>
        <p:spPr>
          <a:xfrm>
            <a:off x="7740000" y="1152000"/>
            <a:ext cx="3960000" cy="360000"/>
          </a:xfrm>
          <a:prstGeom prst="rect">
            <a:avLst/>
          </a:prstGeom>
          <a:solidFill>
            <a:srgbClr val="064E3B"/>
          </a:solidFill>
        </p:spPr>
        <p:txBody>
          <a:bodyPr/>
          <a:lstStyle/>
          <a:p>
            <a:pPr algn="ctr"/>
            <a:r>
              <a:rPr lang="en-US" sz="1500" b="1">
                <a:solidFill>
                  <a:srgbClr val="FFFFFF"/>
                </a:solidFill>
              </a:rPr>
              <a:t>Why Important</a:t>
            </a:r>
          </a:p>
        </p:txBody>
      </p:sp>
      <p:sp>
        <p:nvSpPr>
          <p:cNvPr id="100111" name="R1a"/>
          <p:cNvSpPr txBox="1"/>
          <p:nvPr/>
        </p:nvSpPr>
        <p:spPr>
          <a:xfrm>
            <a:off x="360000" y="1584000"/>
            <a:ext cx="3600000" cy="396000"/>
          </a:xfrm>
          <a:prstGeom prst="rect">
            <a:avLst/>
          </a:prstGeom>
          <a:solidFill>
            <a:srgbClr val="ECFDF5"/>
          </a:solidFill>
        </p:spPr>
        <p:txBody>
          <a:bodyPr/>
          <a:lstStyle/>
          <a:p>
            <a:pPr algn="ctr"/>
            <a:r>
              <a:rPr lang="en-US" sz="1400">
                <a:solidFill>
                  <a:srgbClr val="1E293B"/>
                </a:solidFill>
              </a:rPr>
              <a:t>Calories</a:t>
            </a:r>
          </a:p>
        </p:txBody>
      </p:sp>
      <p:sp>
        <p:nvSpPr>
          <p:cNvPr id="100112" name="R1b"/>
          <p:cNvSpPr txBox="1"/>
          <p:nvPr/>
        </p:nvSpPr>
        <p:spPr>
          <a:xfrm>
            <a:off x="4032000" y="1584000"/>
            <a:ext cx="3600000" cy="396000"/>
          </a:xfrm>
          <a:prstGeom prst="rect">
            <a:avLst/>
          </a:prstGeom>
          <a:solidFill>
            <a:srgbClr val="ECFDF5"/>
          </a:solidFill>
        </p:spPr>
        <p:txBody>
          <a:bodyPr/>
          <a:lstStyle/>
          <a:p>
            <a:pPr algn="ctr"/>
            <a:r>
              <a:rPr lang="en-US" sz="1400" b="1">
                <a:solidFill>
                  <a:srgbClr val="059669"/>
                </a:solidFill>
              </a:rPr>
              <a:t>1,600 – 1,800 kcal</a:t>
            </a:r>
          </a:p>
        </p:txBody>
      </p:sp>
      <p:sp>
        <p:nvSpPr>
          <p:cNvPr id="100113" name="R1c"/>
          <p:cNvSpPr txBox="1"/>
          <p:nvPr/>
        </p:nvSpPr>
        <p:spPr>
          <a:xfrm>
            <a:off x="7740000" y="1584000"/>
            <a:ext cx="3960000" cy="396000"/>
          </a:xfrm>
          <a:prstGeom prst="rect">
            <a:avLst/>
          </a:prstGeom>
          <a:solidFill>
            <a:srgbClr val="ECFDF5"/>
          </a:solidFill>
        </p:spPr>
        <p:txBody>
          <a:bodyPr/>
          <a:lstStyle/>
          <a:p>
            <a:r>
              <a:rPr lang="en-US" sz="1300">
                <a:solidFill>
                  <a:srgbClr val="1E293B"/>
                </a:solidFill>
              </a:rPr>
              <a:t>Moderate deficit for gradual weight loss</a:t>
            </a:r>
          </a:p>
        </p:txBody>
      </p:sp>
      <p:sp>
        <p:nvSpPr>
          <p:cNvPr id="100114" name="R2a"/>
          <p:cNvSpPr txBox="1"/>
          <p:nvPr/>
        </p:nvSpPr>
        <p:spPr>
          <a:xfrm>
            <a:off x="360000" y="2052000"/>
            <a:ext cx="3600000" cy="396000"/>
          </a:xfrm>
          <a:prstGeom prst="rect">
            <a:avLst/>
          </a:prstGeom>
          <a:solidFill>
            <a:srgbClr val="F0FDF4"/>
          </a:solidFill>
        </p:spPr>
        <p:txBody>
          <a:bodyPr/>
          <a:lstStyle/>
          <a:p>
            <a:pPr algn="ctr"/>
            <a:r>
              <a:rPr lang="en-US" sz="1400">
                <a:solidFill>
                  <a:srgbClr val="1E293B"/>
                </a:solidFill>
              </a:rPr>
              <a:t>Protein</a:t>
            </a:r>
          </a:p>
        </p:txBody>
      </p:sp>
      <p:sp>
        <p:nvSpPr>
          <p:cNvPr id="100115" name="R2b"/>
          <p:cNvSpPr txBox="1"/>
          <p:nvPr/>
        </p:nvSpPr>
        <p:spPr>
          <a:xfrm>
            <a:off x="4032000" y="2052000"/>
            <a:ext cx="3600000" cy="396000"/>
          </a:xfrm>
          <a:prstGeom prst="rect">
            <a:avLst/>
          </a:prstGeom>
          <a:solidFill>
            <a:srgbClr val="F0FDF4"/>
          </a:solidFill>
        </p:spPr>
        <p:txBody>
          <a:bodyPr/>
          <a:lstStyle/>
          <a:p>
            <a:pPr algn="ctr"/>
            <a:r>
              <a:rPr lang="en-US" sz="1400" b="1">
                <a:solidFill>
                  <a:srgbClr val="059669"/>
                </a:solidFill>
              </a:rPr>
              <a:t>65 – 80 g</a:t>
            </a:r>
          </a:p>
        </p:txBody>
      </p:sp>
      <p:sp>
        <p:nvSpPr>
          <p:cNvPr id="100116" name="R2c"/>
          <p:cNvSpPr txBox="1"/>
          <p:nvPr/>
        </p:nvSpPr>
        <p:spPr>
          <a:xfrm>
            <a:off x="7740000" y="2052000"/>
            <a:ext cx="3960000" cy="396000"/>
          </a:xfrm>
          <a:prstGeom prst="rect">
            <a:avLst/>
          </a:prstGeom>
          <a:solidFill>
            <a:srgbClr val="F0FDF4"/>
          </a:solidFill>
        </p:spPr>
        <p:txBody>
          <a:bodyPr/>
          <a:lstStyle/>
          <a:p>
            <a:r>
              <a:rPr lang="en-US" sz="1300">
                <a:solidFill>
                  <a:srgbClr val="1E293B"/>
                </a:solidFill>
              </a:rPr>
              <a:t>Muscle preservation, satiety, blood sugar stability</a:t>
            </a:r>
          </a:p>
        </p:txBody>
      </p:sp>
      <p:sp>
        <p:nvSpPr>
          <p:cNvPr id="100117" name="R3a"/>
          <p:cNvSpPr txBox="1"/>
          <p:nvPr/>
        </p:nvSpPr>
        <p:spPr>
          <a:xfrm>
            <a:off x="360000" y="2520000"/>
            <a:ext cx="3600000" cy="396000"/>
          </a:xfrm>
          <a:prstGeom prst="rect">
            <a:avLst/>
          </a:prstGeom>
          <a:solidFill>
            <a:srgbClr val="ECFDF5"/>
          </a:solidFill>
        </p:spPr>
        <p:txBody>
          <a:bodyPr/>
          <a:lstStyle/>
          <a:p>
            <a:pPr algn="ctr"/>
            <a:r>
              <a:rPr lang="en-US" sz="1400">
                <a:solidFill>
                  <a:srgbClr val="1E293B"/>
                </a:solidFill>
              </a:rPr>
              <a:t>Carbohydrates</a:t>
            </a:r>
          </a:p>
        </p:txBody>
      </p:sp>
      <p:sp>
        <p:nvSpPr>
          <p:cNvPr id="100118" name="R3b"/>
          <p:cNvSpPr txBox="1"/>
          <p:nvPr/>
        </p:nvSpPr>
        <p:spPr>
          <a:xfrm>
            <a:off x="4032000" y="2520000"/>
            <a:ext cx="3600000" cy="396000"/>
          </a:xfrm>
          <a:prstGeom prst="rect">
            <a:avLst/>
          </a:prstGeom>
          <a:solidFill>
            <a:srgbClr val="ECFDF5"/>
          </a:solidFill>
        </p:spPr>
        <p:txBody>
          <a:bodyPr/>
          <a:lstStyle/>
          <a:p>
            <a:pPr algn="ctr"/>
            <a:r>
              <a:rPr lang="en-US" sz="1400" b="1">
                <a:solidFill>
                  <a:srgbClr val="059669"/>
                </a:solidFill>
              </a:rPr>
              <a:t>160–180 g (complex only)</a:t>
            </a:r>
          </a:p>
        </p:txBody>
      </p:sp>
      <p:sp>
        <p:nvSpPr>
          <p:cNvPr id="100119" name="R3c"/>
          <p:cNvSpPr txBox="1"/>
          <p:nvPr/>
        </p:nvSpPr>
        <p:spPr>
          <a:xfrm>
            <a:off x="7740000" y="2520000"/>
            <a:ext cx="3960000" cy="396000"/>
          </a:xfrm>
          <a:prstGeom prst="rect">
            <a:avLst/>
          </a:prstGeom>
          <a:solidFill>
            <a:srgbClr val="ECFDF5"/>
          </a:solidFill>
        </p:spPr>
        <p:txBody>
          <a:bodyPr/>
          <a:lstStyle/>
          <a:p>
            <a:r>
              <a:rPr lang="en-US" sz="1300">
                <a:solidFill>
                  <a:srgbClr val="1E293B"/>
                </a:solidFill>
              </a:rPr>
              <a:t>Low GI complex carbs only — no refined/white carbs</a:t>
            </a:r>
          </a:p>
        </p:txBody>
      </p:sp>
      <p:sp>
        <p:nvSpPr>
          <p:cNvPr id="100120" name="R4a"/>
          <p:cNvSpPr txBox="1"/>
          <p:nvPr/>
        </p:nvSpPr>
        <p:spPr>
          <a:xfrm>
            <a:off x="360000" y="2988000"/>
            <a:ext cx="3600000" cy="396000"/>
          </a:xfrm>
          <a:prstGeom prst="rect">
            <a:avLst/>
          </a:prstGeom>
          <a:solidFill>
            <a:srgbClr val="F0FDF4"/>
          </a:solidFill>
        </p:spPr>
        <p:txBody>
          <a:bodyPr/>
          <a:lstStyle/>
          <a:p>
            <a:pPr algn="ctr"/>
            <a:r>
              <a:rPr lang="en-US" sz="1400">
                <a:solidFill>
                  <a:srgbClr val="1E293B"/>
                </a:solidFill>
              </a:rPr>
              <a:t>Healthy Fats</a:t>
            </a:r>
          </a:p>
        </p:txBody>
      </p:sp>
      <p:sp>
        <p:nvSpPr>
          <p:cNvPr id="100121" name="R4b"/>
          <p:cNvSpPr txBox="1"/>
          <p:nvPr/>
        </p:nvSpPr>
        <p:spPr>
          <a:xfrm>
            <a:off x="4032000" y="2988000"/>
            <a:ext cx="3600000" cy="396000"/>
          </a:xfrm>
          <a:prstGeom prst="rect">
            <a:avLst/>
          </a:prstGeom>
          <a:solidFill>
            <a:srgbClr val="F0FDF4"/>
          </a:solidFill>
        </p:spPr>
        <p:txBody>
          <a:bodyPr/>
          <a:lstStyle/>
          <a:p>
            <a:pPr algn="ctr"/>
            <a:r>
              <a:rPr lang="en-US" sz="1400" b="1">
                <a:solidFill>
                  <a:srgbClr val="059669"/>
                </a:solidFill>
              </a:rPr>
              <a:t>45 – 55 g</a:t>
            </a:r>
          </a:p>
        </p:txBody>
      </p:sp>
      <p:sp>
        <p:nvSpPr>
          <p:cNvPr id="100122" name="R4c"/>
          <p:cNvSpPr txBox="1"/>
          <p:nvPr/>
        </p:nvSpPr>
        <p:spPr>
          <a:xfrm>
            <a:off x="7740000" y="2988000"/>
            <a:ext cx="3960000" cy="396000"/>
          </a:xfrm>
          <a:prstGeom prst="rect">
            <a:avLst/>
          </a:prstGeom>
          <a:solidFill>
            <a:srgbClr val="F0FDF4"/>
          </a:solidFill>
        </p:spPr>
        <p:txBody>
          <a:bodyPr/>
          <a:lstStyle/>
          <a:p>
            <a:r>
              <a:rPr lang="en-US" sz="1300">
                <a:solidFill>
                  <a:srgbClr val="1E293B"/>
                </a:solidFill>
              </a:rPr>
              <a:t>Omega-3 (walnuts, flaxseeds) for heart &amp; BP</a:t>
            </a:r>
          </a:p>
        </p:txBody>
      </p:sp>
      <p:sp>
        <p:nvSpPr>
          <p:cNvPr id="100123" name="R5a"/>
          <p:cNvSpPr txBox="1"/>
          <p:nvPr/>
        </p:nvSpPr>
        <p:spPr>
          <a:xfrm>
            <a:off x="360000" y="3456000"/>
            <a:ext cx="3600000" cy="396000"/>
          </a:xfrm>
          <a:prstGeom prst="rect">
            <a:avLst/>
          </a:prstGeom>
          <a:solidFill>
            <a:srgbClr val="ECFDF5"/>
          </a:solidFill>
        </p:spPr>
        <p:txBody>
          <a:bodyPr/>
          <a:lstStyle/>
          <a:p>
            <a:pPr algn="ctr"/>
            <a:r>
              <a:rPr lang="en-US" sz="1400">
                <a:solidFill>
                  <a:srgbClr val="1E293B"/>
                </a:solidFill>
              </a:rPr>
              <a:t>Fiber</a:t>
            </a:r>
          </a:p>
        </p:txBody>
      </p:sp>
      <p:sp>
        <p:nvSpPr>
          <p:cNvPr id="100124" name="R5b"/>
          <p:cNvSpPr txBox="1"/>
          <p:nvPr/>
        </p:nvSpPr>
        <p:spPr>
          <a:xfrm>
            <a:off x="4032000" y="3456000"/>
            <a:ext cx="3600000" cy="396000"/>
          </a:xfrm>
          <a:prstGeom prst="rect">
            <a:avLst/>
          </a:prstGeom>
          <a:solidFill>
            <a:srgbClr val="ECFDF5"/>
          </a:solidFill>
        </p:spPr>
        <p:txBody>
          <a:bodyPr/>
          <a:lstStyle/>
          <a:p>
            <a:pPr algn="ctr"/>
            <a:r>
              <a:rPr lang="en-US" sz="1400" b="1">
                <a:solidFill>
                  <a:srgbClr val="059669"/>
                </a:solidFill>
              </a:rPr>
              <a:t>30 – 35 g</a:t>
            </a:r>
          </a:p>
        </p:txBody>
      </p:sp>
      <p:sp>
        <p:nvSpPr>
          <p:cNvPr id="100125" name="R5c"/>
          <p:cNvSpPr txBox="1"/>
          <p:nvPr/>
        </p:nvSpPr>
        <p:spPr>
          <a:xfrm>
            <a:off x="7740000" y="3456000"/>
            <a:ext cx="3960000" cy="396000"/>
          </a:xfrm>
          <a:prstGeom prst="rect">
            <a:avLst/>
          </a:prstGeom>
          <a:solidFill>
            <a:srgbClr val="ECFDF5"/>
          </a:solidFill>
        </p:spPr>
        <p:txBody>
          <a:bodyPr/>
          <a:lstStyle/>
          <a:p>
            <a:r>
              <a:rPr lang="en-US" sz="1300">
                <a:solidFill>
                  <a:srgbClr val="1E293B"/>
                </a:solidFill>
              </a:rPr>
              <a:t>Slows glucose absorption, improves insulin sensitivity</a:t>
            </a:r>
          </a:p>
        </p:txBody>
      </p:sp>
      <p:sp>
        <p:nvSpPr>
          <p:cNvPr id="100126" name="R6a"/>
          <p:cNvSpPr txBox="1"/>
          <p:nvPr/>
        </p:nvSpPr>
        <p:spPr>
          <a:xfrm>
            <a:off x="360000" y="3924000"/>
            <a:ext cx="3600000" cy="396000"/>
          </a:xfrm>
          <a:prstGeom prst="rect">
            <a:avLst/>
          </a:prstGeom>
          <a:solidFill>
            <a:srgbClr val="F0FDF4"/>
          </a:solidFill>
        </p:spPr>
        <p:txBody>
          <a:bodyPr/>
          <a:lstStyle/>
          <a:p>
            <a:pPr algn="ctr"/>
            <a:r>
              <a:rPr lang="en-US" sz="1400">
                <a:solidFill>
                  <a:srgbClr val="1E293B"/>
                </a:solidFill>
              </a:rPr>
              <a:t>Sodium</a:t>
            </a:r>
          </a:p>
        </p:txBody>
      </p:sp>
      <p:sp>
        <p:nvSpPr>
          <p:cNvPr id="100127" name="R6b"/>
          <p:cNvSpPr txBox="1"/>
          <p:nvPr/>
        </p:nvSpPr>
        <p:spPr>
          <a:xfrm>
            <a:off x="4032000" y="3924000"/>
            <a:ext cx="3600000" cy="396000"/>
          </a:xfrm>
          <a:prstGeom prst="rect">
            <a:avLst/>
          </a:prstGeom>
          <a:solidFill>
            <a:srgbClr val="FEE2E2"/>
          </a:solidFill>
        </p:spPr>
        <p:txBody>
          <a:bodyPr/>
          <a:lstStyle/>
          <a:p>
            <a:pPr algn="ctr"/>
            <a:r>
              <a:rPr lang="en-US" sz="1400" b="1">
                <a:solidFill>
                  <a:srgbClr val="DC2626"/>
                </a:solidFill>
              </a:rPr>
              <a:t>&lt; 1,500 mg/day</a:t>
            </a:r>
          </a:p>
        </p:txBody>
      </p:sp>
      <p:sp>
        <p:nvSpPr>
          <p:cNvPr id="100128" name="R6c"/>
          <p:cNvSpPr txBox="1"/>
          <p:nvPr/>
        </p:nvSpPr>
        <p:spPr>
          <a:xfrm>
            <a:off x="7740000" y="3924000"/>
            <a:ext cx="3960000" cy="396000"/>
          </a:xfrm>
          <a:prstGeom prst="rect">
            <a:avLst/>
          </a:prstGeom>
          <a:solidFill>
            <a:srgbClr val="FEE2E2"/>
          </a:solidFill>
        </p:spPr>
        <p:txBody>
          <a:bodyPr/>
          <a:lstStyle/>
          <a:p>
            <a:r>
              <a:rPr lang="en-US" sz="1300">
                <a:solidFill>
                  <a:srgbClr val="DC2626"/>
                </a:solidFill>
              </a:rPr>
              <a:t>DASH Diet — critical for blood pressure control</a:t>
            </a:r>
          </a:p>
        </p:txBody>
      </p:sp>
      <p:sp>
        <p:nvSpPr>
          <p:cNvPr id="100129" name="R7a"/>
          <p:cNvSpPr txBox="1"/>
          <p:nvPr/>
        </p:nvSpPr>
        <p:spPr>
          <a:xfrm>
            <a:off x="360000" y="4392000"/>
            <a:ext cx="3600000" cy="396000"/>
          </a:xfrm>
          <a:prstGeom prst="rect">
            <a:avLst/>
          </a:prstGeom>
          <a:solidFill>
            <a:srgbClr val="ECFDF5"/>
          </a:solidFill>
        </p:spPr>
        <p:txBody>
          <a:bodyPr/>
          <a:lstStyle/>
          <a:p>
            <a:pPr algn="ctr"/>
            <a:r>
              <a:rPr lang="en-US" sz="1400">
                <a:solidFill>
                  <a:srgbClr val="1E293B"/>
                </a:solidFill>
              </a:rPr>
              <a:t>Water</a:t>
            </a:r>
          </a:p>
        </p:txBody>
      </p:sp>
      <p:sp>
        <p:nvSpPr>
          <p:cNvPr id="100130" name="R7b"/>
          <p:cNvSpPr txBox="1"/>
          <p:nvPr/>
        </p:nvSpPr>
        <p:spPr>
          <a:xfrm>
            <a:off x="4032000" y="4392000"/>
            <a:ext cx="3600000" cy="396000"/>
          </a:xfrm>
          <a:prstGeom prst="rect">
            <a:avLst/>
          </a:prstGeom>
          <a:solidFill>
            <a:srgbClr val="ECFDF5"/>
          </a:solidFill>
        </p:spPr>
        <p:txBody>
          <a:bodyPr/>
          <a:lstStyle/>
          <a:p>
            <a:pPr algn="ctr"/>
            <a:r>
              <a:rPr lang="en-US" sz="1400" b="1">
                <a:solidFill>
                  <a:srgbClr val="059669"/>
                </a:solidFill>
              </a:rPr>
              <a:t>10–12 glasses (2.5–3 L)</a:t>
            </a:r>
          </a:p>
        </p:txBody>
      </p:sp>
      <p:sp>
        <p:nvSpPr>
          <p:cNvPr id="100131" name="R7c"/>
          <p:cNvSpPr txBox="1"/>
          <p:nvPr/>
        </p:nvSpPr>
        <p:spPr>
          <a:xfrm>
            <a:off x="7740000" y="4392000"/>
            <a:ext cx="3960000" cy="396000"/>
          </a:xfrm>
          <a:prstGeom prst="rect">
            <a:avLst/>
          </a:prstGeom>
          <a:solidFill>
            <a:srgbClr val="ECFDF5"/>
          </a:solidFill>
        </p:spPr>
        <p:txBody>
          <a:bodyPr/>
          <a:lstStyle/>
          <a:p>
            <a:r>
              <a:rPr lang="en-US" sz="1300">
                <a:solidFill>
                  <a:srgbClr val="1E293B"/>
                </a:solidFill>
              </a:rPr>
              <a:t>Kidney health, metabolism, toxin flush</a:t>
            </a:r>
          </a:p>
        </p:txBody>
      </p:sp>
      <p:sp>
        <p:nvSpPr>
          <p:cNvPr id="100132"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  |  Data from sample_plan_output.md</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133"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134" name="SlideTitle"/>
          <p:cNvSpPr txBox="1"/>
          <p:nvPr/>
        </p:nvSpPr>
        <p:spPr>
          <a:xfrm>
            <a:off x="288000" y="72000"/>
            <a:ext cx="11520000" cy="432000"/>
          </a:xfrm>
          <a:prstGeom prst="rect">
            <a:avLst/>
          </a:prstGeom>
          <a:noFill/>
        </p:spPr>
        <p:txBody>
          <a:bodyPr/>
          <a:lstStyle/>
          <a:p>
            <a:r>
              <a:rPr lang="en-US" sz="2600" b="1">
                <a:solidFill>
                  <a:srgbClr val="FFFFFF"/>
                </a:solidFill>
              </a:rPr>
              <a:t>Slide 12: Full Meal Plan (from .md Output)</a:t>
            </a:r>
          </a:p>
        </p:txBody>
      </p:sp>
      <p:sp>
        <p:nvSpPr>
          <p:cNvPr id="100135" name="B"/>
          <p:cNvSpPr txBox="1"/>
          <p:nvPr/>
        </p:nvSpPr>
        <p:spPr>
          <a:xfrm>
            <a:off x="360000" y="720000"/>
            <a:ext cx="5400000" cy="1440000"/>
          </a:xfrm>
          <a:prstGeom prst="rect">
            <a:avLst/>
          </a:prstGeom>
          <a:solidFill>
            <a:srgbClr val="ECFDF5"/>
          </a:solidFill>
        </p:spPr>
        <p:txBody>
          <a:bodyPr/>
          <a:lstStyle/>
          <a:p>
            <a:r>
              <a:rPr lang="en-US" sz="1200">
                <a:solidFill>
                  <a:srgbClr val="1E293B"/>
                </a:solidFill>
              </a:rPr>
              <a:t>🌅  BREAKFAST  (7:00–7:30 AM)</a:t>
            </a:r>
          </a:p>
          <a:p>
            <a:r>
              <a:rPr lang="en-US" sz="1200">
                <a:solidFill>
                  <a:srgbClr val="1E293B"/>
                </a:solidFill>
              </a:rPr>
              <a:t>Steel-cut oatmeal + chia seeds + 10 almonds + blueberries</a:t>
            </a:r>
          </a:p>
          <a:p>
            <a:r>
              <a:rPr lang="en-US" sz="1200">
                <a:solidFill>
                  <a:srgbClr val="1E293B"/>
                </a:solidFill>
              </a:rPr>
              <a:t>OR  Moong dal cheela + mint chutney + low-fat curd</a:t>
            </a:r>
          </a:p>
          <a:p>
            <a:r>
              <a:rPr lang="en-US" sz="1200">
                <a:solidFill>
                  <a:srgbClr val="1E293B"/>
                </a:solidFill>
              </a:rPr>
              <a:t>OR  Multigrain dosa + sambar (low salt) + chutney</a:t>
            </a:r>
          </a:p>
          <a:p>
            <a:r>
              <a:rPr lang="en-US" sz="1200">
                <a:solidFill>
                  <a:srgbClr val="1E293B"/>
                </a:solidFill>
              </a:rPr>
              <a:t>Low-GI, high-fiber — prevents blood sugar spikes</a:t>
            </a:r>
          </a:p>
        </p:txBody>
      </p:sp>
      <p:sp>
        <p:nvSpPr>
          <p:cNvPr id="100136" name="S1"/>
          <p:cNvSpPr txBox="1"/>
          <p:nvPr/>
        </p:nvSpPr>
        <p:spPr>
          <a:xfrm>
            <a:off x="6300000" y="720000"/>
            <a:ext cx="5400000" cy="1440000"/>
          </a:xfrm>
          <a:prstGeom prst="rect">
            <a:avLst/>
          </a:prstGeom>
          <a:solidFill>
            <a:srgbClr val="ECFDF5"/>
          </a:solidFill>
        </p:spPr>
        <p:txBody>
          <a:bodyPr/>
          <a:lstStyle/>
          <a:p>
            <a:r>
              <a:rPr lang="en-US" sz="1200">
                <a:solidFill>
                  <a:srgbClr val="1E293B"/>
                </a:solidFill>
              </a:rPr>
              <a:t>🌞  MID-MORNING  (10:30 AM)</a:t>
            </a:r>
          </a:p>
          <a:p>
            <a:r>
              <a:rPr lang="en-US" sz="1200">
                <a:solidFill>
                  <a:srgbClr val="1E293B"/>
                </a:solidFill>
              </a:rPr>
              <a:t>Low-GI fruit (guava / jamun / pear)</a:t>
            </a:r>
          </a:p>
          <a:p>
            <a:r>
              <a:rPr lang="en-US" sz="1200">
                <a:solidFill>
                  <a:srgbClr val="1E293B"/>
                </a:solidFill>
              </a:rPr>
              <a:t>OR  Buttermilk (chaas) — minimal salt</a:t>
            </a:r>
          </a:p>
          <a:p>
            <a:r>
              <a:rPr lang="en-US" sz="1200">
                <a:solidFill>
                  <a:srgbClr val="1E293B"/>
                </a:solidFill>
              </a:rPr>
              <a:t>5–6 soaked walnuts (omega-3)</a:t>
            </a:r>
          </a:p>
        </p:txBody>
      </p:sp>
      <p:sp>
        <p:nvSpPr>
          <p:cNvPr id="100137" name="L"/>
          <p:cNvSpPr txBox="1"/>
          <p:nvPr/>
        </p:nvSpPr>
        <p:spPr>
          <a:xfrm>
            <a:off x="360000" y="2340000"/>
            <a:ext cx="5400000" cy="1440000"/>
          </a:xfrm>
          <a:prstGeom prst="rect">
            <a:avLst/>
          </a:prstGeom>
          <a:solidFill>
            <a:srgbClr val="D1FAE5"/>
          </a:solidFill>
        </p:spPr>
        <p:txBody>
          <a:bodyPr/>
          <a:lstStyle/>
          <a:p>
            <a:r>
              <a:rPr lang="en-US" sz="1200">
                <a:solidFill>
                  <a:srgbClr val="1E293B"/>
                </a:solidFill>
              </a:rPr>
              <a:t>🍽️  LUNCH  (1:00–1:30 PM)</a:t>
            </a:r>
          </a:p>
          <a:p>
            <a:r>
              <a:rPr lang="en-US" sz="1200">
                <a:solidFill>
                  <a:srgbClr val="1E293B"/>
                </a:solidFill>
              </a:rPr>
              <a:t>Brown rice + palak dal + mixed vegetable subzi</a:t>
            </a:r>
          </a:p>
          <a:p>
            <a:r>
              <a:rPr lang="en-US" sz="1200">
                <a:solidFill>
                  <a:srgbClr val="1E293B"/>
                </a:solidFill>
              </a:rPr>
              <a:t>OR  2 jowar/bajra rotis + rajma curry + curd</a:t>
            </a:r>
          </a:p>
          <a:p>
            <a:r>
              <a:rPr lang="en-US" sz="1200">
                <a:solidFill>
                  <a:srgbClr val="1E293B"/>
                </a:solidFill>
              </a:rPr>
              <a:t>OR  Quinoa khichdi + vegetables + yogurt</a:t>
            </a:r>
          </a:p>
          <a:p>
            <a:r>
              <a:rPr lang="en-US" sz="1200">
                <a:solidFill>
                  <a:srgbClr val="1E293B"/>
                </a:solidFill>
              </a:rPr>
              <a:t>Plate: 1/2 veg | 1/4 protein | 1/4 grain</a:t>
            </a:r>
          </a:p>
        </p:txBody>
      </p:sp>
      <p:sp>
        <p:nvSpPr>
          <p:cNvPr id="100138" name="S2"/>
          <p:cNvSpPr txBox="1"/>
          <p:nvPr/>
        </p:nvSpPr>
        <p:spPr>
          <a:xfrm>
            <a:off x="6300000" y="2340000"/>
            <a:ext cx="5400000" cy="1440000"/>
          </a:xfrm>
          <a:prstGeom prst="rect">
            <a:avLst/>
          </a:prstGeom>
          <a:solidFill>
            <a:srgbClr val="D1FAE5"/>
          </a:solidFill>
        </p:spPr>
        <p:txBody>
          <a:bodyPr/>
          <a:lstStyle/>
          <a:p>
            <a:r>
              <a:rPr lang="en-US" sz="1200">
                <a:solidFill>
                  <a:srgbClr val="1E293B"/>
                </a:solidFill>
              </a:rPr>
              <a:t>☀️  AFTERNOON SNACK  (4:00 PM)</a:t>
            </a:r>
          </a:p>
          <a:p>
            <a:r>
              <a:rPr lang="en-US" sz="1200">
                <a:solidFill>
                  <a:srgbClr val="1E293B"/>
                </a:solidFill>
              </a:rPr>
              <a:t>Roasted makhana (fox nuts) — excellent for diabetes</a:t>
            </a:r>
          </a:p>
          <a:p>
            <a:r>
              <a:rPr lang="en-US" sz="1200">
                <a:solidFill>
                  <a:srgbClr val="1E293B"/>
                </a:solidFill>
              </a:rPr>
              <a:t>OR  Sprouts chaat (no salt, lemon, coriander)</a:t>
            </a:r>
          </a:p>
          <a:p>
            <a:r>
              <a:rPr lang="en-US" sz="1200">
                <a:solidFill>
                  <a:srgbClr val="1E293B"/>
                </a:solidFill>
              </a:rPr>
              <a:t>Herbal tea — green / tulsi-ginger (no sugar)</a:t>
            </a:r>
          </a:p>
        </p:txBody>
      </p:sp>
      <p:sp>
        <p:nvSpPr>
          <p:cNvPr id="100139" name="D"/>
          <p:cNvSpPr txBox="1"/>
          <p:nvPr/>
        </p:nvSpPr>
        <p:spPr>
          <a:xfrm>
            <a:off x="360000" y="3960000"/>
            <a:ext cx="5400000" cy="1620000"/>
          </a:xfrm>
          <a:prstGeom prst="rect">
            <a:avLst/>
          </a:prstGeom>
          <a:solidFill>
            <a:srgbClr val="ECFDF5"/>
          </a:solidFill>
        </p:spPr>
        <p:txBody>
          <a:bodyPr/>
          <a:lstStyle/>
          <a:p>
            <a:r>
              <a:rPr lang="en-US" sz="1200">
                <a:solidFill>
                  <a:srgbClr val="1E293B"/>
                </a:solidFill>
              </a:rPr>
              <a:t>🌙  DINNER  (7:00–7:30 PM)</a:t>
            </a:r>
          </a:p>
          <a:p>
            <a:r>
              <a:rPr lang="en-US" sz="1200">
                <a:solidFill>
                  <a:srgbClr val="1E293B"/>
                </a:solidFill>
              </a:rPr>
              <a:t>Moong dal soup + jowar rotis + stir-fried methi</a:t>
            </a:r>
          </a:p>
          <a:p>
            <a:r>
              <a:rPr lang="en-US" sz="1200">
                <a:solidFill>
                  <a:srgbClr val="1E293B"/>
                </a:solidFill>
              </a:rPr>
              <a:t>OR  Vegetable daliya (broken wheat) + curd + salad</a:t>
            </a:r>
          </a:p>
          <a:p>
            <a:r>
              <a:rPr lang="en-US" sz="1200">
                <a:solidFill>
                  <a:srgbClr val="1E293B"/>
                </a:solidFill>
              </a:rPr>
              <a:t>OR  Baked paneer tikka + 1 roti + vegetable raita</a:t>
            </a:r>
          </a:p>
          <a:p>
            <a:r>
              <a:rPr lang="en-US" sz="1200">
                <a:solidFill>
                  <a:srgbClr val="1E293B"/>
                </a:solidFill>
              </a:rPr>
              <a:t>Light dinner by 7:30 PM — optimal blood sugar control</a:t>
            </a:r>
          </a:p>
        </p:txBody>
      </p:sp>
      <p:sp>
        <p:nvSpPr>
          <p:cNvPr id="100140" name="PD"/>
          <p:cNvSpPr txBox="1"/>
          <p:nvPr/>
        </p:nvSpPr>
        <p:spPr>
          <a:xfrm>
            <a:off x="6300000" y="3960000"/>
            <a:ext cx="5400000" cy="1620000"/>
          </a:xfrm>
          <a:prstGeom prst="rect">
            <a:avLst/>
          </a:prstGeom>
          <a:solidFill>
            <a:srgbClr val="ECFDF5"/>
          </a:solidFill>
        </p:spPr>
        <p:txBody>
          <a:bodyPr/>
          <a:lstStyle/>
          <a:p>
            <a:r>
              <a:rPr lang="en-US" sz="1200">
                <a:solidFill>
                  <a:srgbClr val="1E293B"/>
                </a:solidFill>
              </a:rPr>
              <a:t>🌛  POST-DINNER  (Optional)</a:t>
            </a:r>
          </a:p>
          <a:p>
            <a:r>
              <a:rPr lang="en-US" sz="1200">
                <a:solidFill>
                  <a:srgbClr val="1E293B"/>
                </a:solidFill>
              </a:rPr>
              <a:t>Warm turmeric milk (no sugar / pinch jaggery)</a:t>
            </a:r>
          </a:p>
          <a:p>
            <a:r>
              <a:rPr lang="en-US" sz="1200">
                <a:solidFill>
                  <a:srgbClr val="1E293B"/>
                </a:solidFill>
              </a:rPr>
              <a:t>OR  Chamomile / fenugreek seed tea</a:t>
            </a:r>
          </a:p>
          <a:p>
            <a:r>
              <a:rPr lang="en-US" sz="1200">
                <a:solidFill>
                  <a:srgbClr val="1E293B"/>
                </a:solidFill>
              </a:rPr>
              <a:t>Helps regulate blood sugar overnight</a:t>
            </a:r>
          </a:p>
        </p:txBody>
      </p:sp>
      <p:sp>
        <p:nvSpPr>
          <p:cNvPr id="100141"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  |  Data from sample_plan_output.md</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142"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143" name="SlideTitle"/>
          <p:cNvSpPr txBox="1"/>
          <p:nvPr/>
        </p:nvSpPr>
        <p:spPr>
          <a:xfrm>
            <a:off x="288000" y="72000"/>
            <a:ext cx="11520000" cy="432000"/>
          </a:xfrm>
          <a:prstGeom prst="rect">
            <a:avLst/>
          </a:prstGeom>
          <a:noFill/>
        </p:spPr>
        <p:txBody>
          <a:bodyPr/>
          <a:lstStyle/>
          <a:p>
            <a:r>
              <a:rPr lang="en-US" sz="2600" b="1">
                <a:solidFill>
                  <a:srgbClr val="FFFFFF"/>
                </a:solidFill>
              </a:rPr>
              <a:t>Slide 13: Medical Condition Guidelines (from .md Plan)</a:t>
            </a:r>
          </a:p>
        </p:txBody>
      </p:sp>
      <p:sp>
        <p:nvSpPr>
          <p:cNvPr id="100144" name="DiabTitle"/>
          <p:cNvSpPr txBox="1"/>
          <p:nvPr/>
        </p:nvSpPr>
        <p:spPr>
          <a:xfrm>
            <a:off x="360000" y="720000"/>
            <a:ext cx="5400000" cy="324000"/>
          </a:xfrm>
          <a:prstGeom prst="rect">
            <a:avLst/>
          </a:prstGeom>
          <a:noFill/>
        </p:spPr>
        <p:txBody>
          <a:bodyPr/>
          <a:lstStyle/>
          <a:p>
            <a:r>
              <a:rPr lang="en-US" sz="1700" b="1">
                <a:solidFill>
                  <a:srgbClr val="DC2626"/>
                </a:solidFill>
              </a:rPr>
              <a:t>🩸  Type 2 Diabetes — Dietary Guidelines</a:t>
            </a:r>
          </a:p>
        </p:txBody>
      </p:sp>
      <p:sp>
        <p:nvSpPr>
          <p:cNvPr id="100145" name="DiabList"/>
          <p:cNvSpPr txBox="1"/>
          <p:nvPr/>
        </p:nvSpPr>
        <p:spPr>
          <a:xfrm>
            <a:off x="360000" y="1116000"/>
            <a:ext cx="5400000" cy="2880000"/>
          </a:xfrm>
          <a:prstGeom prst="rect">
            <a:avLst/>
          </a:prstGeom>
          <a:solidFill>
            <a:srgbClr val="FEE2E2"/>
          </a:solidFill>
        </p:spPr>
        <p:txBody>
          <a:bodyPr/>
          <a:lstStyle/>
          <a:p>
            <a:r>
              <a:rPr lang="en-US" sz="1300">
                <a:solidFill>
                  <a:srgbClr val="1E293B"/>
                </a:solidFill>
              </a:rPr>
              <a:t>1  Eat every 3–4 hours — never skip meals</a:t>
            </a:r>
          </a:p>
          <a:p>
            <a:r>
              <a:rPr lang="en-US" sz="1300">
                <a:solidFill>
                  <a:srgbClr val="1E293B"/>
                </a:solidFill>
              </a:rPr>
              <a:t>2  Choose low GI foods: oats, jowar, bajra, quinoa, barley</a:t>
            </a:r>
          </a:p>
          <a:p>
            <a:r>
              <a:rPr lang="en-US" sz="1300">
                <a:solidFill>
                  <a:srgbClr val="1E293B"/>
                </a:solidFill>
              </a:rPr>
              <a:t>3  Pair carbs with protein &amp; fat — slows glucose absorption</a:t>
            </a:r>
          </a:p>
          <a:p>
            <a:r>
              <a:rPr lang="en-US" sz="1300">
                <a:solidFill>
                  <a:srgbClr val="1E293B"/>
                </a:solidFill>
              </a:rPr>
              <a:t>4  Cinnamon daily — proven insulin sensitivity benefit</a:t>
            </a:r>
          </a:p>
          <a:p>
            <a:r>
              <a:rPr lang="en-US" sz="1300">
                <a:solidFill>
                  <a:srgbClr val="1E293B"/>
                </a:solidFill>
              </a:rPr>
              <a:t>5  Fenugreek (methi) seeds — soak overnight, drink water</a:t>
            </a:r>
          </a:p>
          <a:p>
            <a:r>
              <a:rPr lang="en-US" sz="1300">
                <a:solidFill>
                  <a:srgbClr val="1E293B"/>
                </a:solidFill>
              </a:rPr>
              <a:t>6  Bitter gourd (karela) — 2–3x/week, natural regulator</a:t>
            </a:r>
          </a:p>
          <a:p>
            <a:r>
              <a:rPr lang="en-US" sz="1300">
                <a:solidFill>
                  <a:srgbClr val="1E293B"/>
                </a:solidFill>
              </a:rPr>
              <a:t>7  Avoid late-night eating — raises fasting blood sugar</a:t>
            </a:r>
          </a:p>
        </p:txBody>
      </p:sp>
      <p:sp>
        <p:nvSpPr>
          <p:cNvPr id="100146" name="BPTitle"/>
          <p:cNvSpPr txBox="1"/>
          <p:nvPr/>
        </p:nvSpPr>
        <p:spPr>
          <a:xfrm>
            <a:off x="6300000" y="720000"/>
            <a:ext cx="5400000" cy="324000"/>
          </a:xfrm>
          <a:prstGeom prst="rect">
            <a:avLst/>
          </a:prstGeom>
          <a:noFill/>
        </p:spPr>
        <p:txBody>
          <a:bodyPr/>
          <a:lstStyle/>
          <a:p>
            <a:r>
              <a:rPr lang="en-US" sz="1700" b="1">
                <a:solidFill>
                  <a:srgbClr val="DC2626"/>
                </a:solidFill>
              </a:rPr>
              <a:t>❤️  Hypertension — DASH Diet Guidelines</a:t>
            </a:r>
          </a:p>
        </p:txBody>
      </p:sp>
      <p:sp>
        <p:nvSpPr>
          <p:cNvPr id="100147" name="BPList"/>
          <p:cNvSpPr txBox="1"/>
          <p:nvPr/>
        </p:nvSpPr>
        <p:spPr>
          <a:xfrm>
            <a:off x="6300000" y="1116000"/>
            <a:ext cx="5400000" cy="2880000"/>
          </a:xfrm>
          <a:prstGeom prst="rect">
            <a:avLst/>
          </a:prstGeom>
          <a:solidFill>
            <a:srgbClr val="FEE2E2"/>
          </a:solidFill>
        </p:spPr>
        <p:txBody>
          <a:bodyPr/>
          <a:lstStyle/>
          <a:p>
            <a:r>
              <a:rPr lang="en-US" sz="1300">
                <a:solidFill>
                  <a:srgbClr val="1E293B"/>
                </a:solidFill>
              </a:rPr>
              <a:t>1  DASH Diet principles — limit sodium strictly</a:t>
            </a:r>
          </a:p>
          <a:p>
            <a:r>
              <a:rPr lang="en-US" sz="1300">
                <a:solidFill>
                  <a:srgbClr val="1E293B"/>
                </a:solidFill>
              </a:rPr>
              <a:t>2  Use herbs instead of salt (coriander, cumin, haldi)</a:t>
            </a:r>
          </a:p>
          <a:p>
            <a:r>
              <a:rPr lang="en-US" sz="1300">
                <a:solidFill>
                  <a:srgbClr val="1E293B"/>
                </a:solidFill>
              </a:rPr>
              <a:t>3  Potassium-rich foods — spinach, sweet potato, banana</a:t>
            </a:r>
          </a:p>
          <a:p>
            <a:r>
              <a:rPr lang="en-US" sz="1300">
                <a:solidFill>
                  <a:srgbClr val="1E293B"/>
                </a:solidFill>
              </a:rPr>
              <a:t>4  Magnesium sources — pumpkin seeds, almonds, greens</a:t>
            </a:r>
          </a:p>
          <a:p>
            <a:r>
              <a:rPr lang="en-US" sz="1300">
                <a:solidFill>
                  <a:srgbClr val="1E293B"/>
                </a:solidFill>
              </a:rPr>
              <a:t>5  Reduce caffeine — max 1 cup chai/coffee per day</a:t>
            </a:r>
          </a:p>
          <a:p>
            <a:r>
              <a:rPr lang="en-US" sz="1300">
                <a:solidFill>
                  <a:srgbClr val="1E293B"/>
                </a:solidFill>
              </a:rPr>
              <a:t>6  Omega-3 fatty acids — walnuts, flaxseeds, chia daily</a:t>
            </a:r>
          </a:p>
          <a:p>
            <a:r>
              <a:rPr lang="en-US" sz="1300">
                <a:solidFill>
                  <a:srgbClr val="1E293B"/>
                </a:solidFill>
              </a:rPr>
              <a:t>7  Avoid pickle, papad, processed foods (very high sodium)</a:t>
            </a:r>
          </a:p>
        </p:txBody>
      </p:sp>
      <p:sp>
        <p:nvSpPr>
          <p:cNvPr id="100148" name="HydTitle"/>
          <p:cNvSpPr txBox="1"/>
          <p:nvPr/>
        </p:nvSpPr>
        <p:spPr>
          <a:xfrm>
            <a:off x="360000" y="4320000"/>
            <a:ext cx="5400000" cy="288000"/>
          </a:xfrm>
          <a:prstGeom prst="rect">
            <a:avLst/>
          </a:prstGeom>
          <a:noFill/>
        </p:spPr>
        <p:txBody>
          <a:bodyPr/>
          <a:lstStyle/>
          <a:p>
            <a:r>
              <a:rPr lang="en-US" sz="1500" b="1">
                <a:solidFill>
                  <a:srgbClr val="064E3B"/>
                </a:solidFill>
              </a:rPr>
              <a:t>💧  Hydration Schedule</a:t>
            </a:r>
          </a:p>
        </p:txBody>
      </p:sp>
      <p:sp>
        <p:nvSpPr>
          <p:cNvPr id="100149" name="HydList"/>
          <p:cNvSpPr txBox="1"/>
          <p:nvPr/>
        </p:nvSpPr>
        <p:spPr>
          <a:xfrm>
            <a:off x="360000" y="4680000"/>
            <a:ext cx="5400000" cy="1548000"/>
          </a:xfrm>
          <a:prstGeom prst="rect">
            <a:avLst/>
          </a:prstGeom>
          <a:solidFill>
            <a:srgbClr val="DBEAFE"/>
          </a:solidFill>
        </p:spPr>
        <p:txBody>
          <a:bodyPr/>
          <a:lstStyle/>
          <a:p>
            <a:r>
              <a:rPr lang="en-US" sz="1300">
                <a:solidFill>
                  <a:srgbClr val="1E293B"/>
                </a:solidFill>
              </a:rPr>
              <a:t>Wake-up 6:30 AM → 2 glasses warm water</a:t>
            </a:r>
          </a:p>
          <a:p>
            <a:r>
              <a:rPr lang="en-US" sz="1300">
                <a:solidFill>
                  <a:srgbClr val="1E293B"/>
                </a:solidFill>
              </a:rPr>
              <a:t>Before breakfast → 1 glass</a:t>
            </a:r>
          </a:p>
          <a:p>
            <a:r>
              <a:rPr lang="en-US" sz="1300">
                <a:solidFill>
                  <a:srgbClr val="1E293B"/>
                </a:solidFill>
              </a:rPr>
              <a:t>Between B &amp; L → 2–3 glasses</a:t>
            </a:r>
          </a:p>
          <a:p>
            <a:r>
              <a:rPr lang="en-US" sz="1300">
                <a:solidFill>
                  <a:srgbClr val="1E293B"/>
                </a:solidFill>
              </a:rPr>
              <a:t>Before lunch → 1 glass (15 min)</a:t>
            </a:r>
          </a:p>
          <a:p>
            <a:r>
              <a:rPr lang="en-US" sz="1300">
                <a:solidFill>
                  <a:srgbClr val="1E293B"/>
                </a:solidFill>
              </a:rPr>
              <a:t>Between L &amp; D → 3–4 glasses</a:t>
            </a:r>
          </a:p>
          <a:p>
            <a:r>
              <a:rPr lang="en-US" sz="1300">
                <a:solidFill>
                  <a:srgbClr val="1E293B"/>
                </a:solidFill>
              </a:rPr>
              <a:t>After dinner → herbal tea ONLY</a:t>
            </a:r>
          </a:p>
        </p:txBody>
      </p:sp>
      <p:sp>
        <p:nvSpPr>
          <p:cNvPr id="100150" name="LSTitle"/>
          <p:cNvSpPr txBox="1"/>
          <p:nvPr/>
        </p:nvSpPr>
        <p:spPr>
          <a:xfrm>
            <a:off x="6300000" y="4320000"/>
            <a:ext cx="5400000" cy="288000"/>
          </a:xfrm>
          <a:prstGeom prst="rect">
            <a:avLst/>
          </a:prstGeom>
          <a:noFill/>
        </p:spPr>
        <p:txBody>
          <a:bodyPr/>
          <a:lstStyle/>
          <a:p>
            <a:r>
              <a:rPr lang="en-US" sz="1500" b="1">
                <a:solidFill>
                  <a:srgbClr val="064E3B"/>
                </a:solidFill>
              </a:rPr>
              <a:t>🏃  Lifestyle — Mumbai</a:t>
            </a:r>
          </a:p>
        </p:txBody>
      </p:sp>
      <p:sp>
        <p:nvSpPr>
          <p:cNvPr id="100151" name="LSList"/>
          <p:cNvSpPr txBox="1"/>
          <p:nvPr/>
        </p:nvSpPr>
        <p:spPr>
          <a:xfrm>
            <a:off x="6300000" y="4680000"/>
            <a:ext cx="5400000" cy="1548000"/>
          </a:xfrm>
          <a:prstGeom prst="rect">
            <a:avLst/>
          </a:prstGeom>
          <a:solidFill>
            <a:srgbClr val="DBEAFE"/>
          </a:solidFill>
        </p:spPr>
        <p:txBody>
          <a:bodyPr/>
          <a:lstStyle/>
          <a:p>
            <a:r>
              <a:rPr lang="en-US" sz="1300">
                <a:solidFill>
                  <a:srgbClr val="1E293B"/>
                </a:solidFill>
              </a:rPr>
              <a:t>Walk 30–45 min daily (Marine Drive, local parks)</a:t>
            </a:r>
          </a:p>
          <a:p>
            <a:r>
              <a:rPr lang="en-US" sz="1300">
                <a:solidFill>
                  <a:srgbClr val="1E293B"/>
                </a:solidFill>
              </a:rPr>
              <a:t>Yoga 5 days/week (diabetes + BP benefit)</a:t>
            </a:r>
          </a:p>
          <a:p>
            <a:r>
              <a:rPr lang="en-US" sz="1300">
                <a:solidFill>
                  <a:srgbClr val="1E293B"/>
                </a:solidFill>
              </a:rPr>
              <a:t>7–8 hours sleep — poor sleep worsens insulin resistance</a:t>
            </a:r>
          </a:p>
          <a:p>
            <a:r>
              <a:rPr lang="en-US" sz="1300">
                <a:solidFill>
                  <a:srgbClr val="1E293B"/>
                </a:solidFill>
              </a:rPr>
              <a:t>Pranayama / meditation 10 min/day</a:t>
            </a:r>
          </a:p>
          <a:p>
            <a:r>
              <a:rPr lang="en-US" sz="1300">
                <a:solidFill>
                  <a:srgbClr val="1E293B"/>
                </a:solidFill>
              </a:rPr>
              <a:t>Blood sugar: check morning + 2h post meals</a:t>
            </a:r>
          </a:p>
          <a:p>
            <a:r>
              <a:rPr lang="en-US" sz="1300">
                <a:solidFill>
                  <a:srgbClr val="1E293B"/>
                </a:solidFill>
              </a:rPr>
              <a:t>BP: monitor weekly at home</a:t>
            </a:r>
          </a:p>
        </p:txBody>
      </p:sp>
      <p:sp>
        <p:nvSpPr>
          <p:cNvPr id="100152"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  |  Data from sample_plan_output.md</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153"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154" name="SlideTitle"/>
          <p:cNvSpPr txBox="1"/>
          <p:nvPr/>
        </p:nvSpPr>
        <p:spPr>
          <a:xfrm>
            <a:off x="288000" y="72000"/>
            <a:ext cx="11520000" cy="432000"/>
          </a:xfrm>
          <a:prstGeom prst="rect">
            <a:avLst/>
          </a:prstGeom>
          <a:noFill/>
        </p:spPr>
        <p:txBody>
          <a:bodyPr/>
          <a:lstStyle/>
          <a:p>
            <a:r>
              <a:rPr lang="en-US" sz="2600" b="1">
                <a:solidFill>
                  <a:srgbClr val="FFFFFF"/>
                </a:solidFill>
              </a:rPr>
              <a:t>Slide 14: Foods to Eat &amp; Avoid (from .md Plan)</a:t>
            </a:r>
          </a:p>
        </p:txBody>
      </p:sp>
      <p:sp>
        <p:nvSpPr>
          <p:cNvPr id="100155" name="EatTitle"/>
          <p:cNvSpPr txBox="1"/>
          <p:nvPr/>
        </p:nvSpPr>
        <p:spPr>
          <a:xfrm>
            <a:off x="360000" y="720000"/>
            <a:ext cx="5400000" cy="324000"/>
          </a:xfrm>
          <a:prstGeom prst="rect">
            <a:avLst/>
          </a:prstGeom>
          <a:noFill/>
        </p:spPr>
        <p:txBody>
          <a:bodyPr/>
          <a:lstStyle/>
          <a:p>
            <a:r>
              <a:rPr lang="en-US" sz="1800" b="1">
                <a:solidFill>
                  <a:srgbClr val="059669"/>
                </a:solidFill>
              </a:rPr>
              <a:t>✅  FOODS TO EMPHASIZE</a:t>
            </a:r>
          </a:p>
        </p:txBody>
      </p:sp>
      <p:sp>
        <p:nvSpPr>
          <p:cNvPr id="100156" name="EatList"/>
          <p:cNvSpPr txBox="1"/>
          <p:nvPr/>
        </p:nvSpPr>
        <p:spPr>
          <a:xfrm>
            <a:off x="360000" y="1116000"/>
            <a:ext cx="5400000" cy="4320000"/>
          </a:xfrm>
          <a:prstGeom prst="rect">
            <a:avLst/>
          </a:prstGeom>
          <a:solidFill>
            <a:srgbClr val="D1FAE5"/>
          </a:solidFill>
        </p:spPr>
        <p:txBody>
          <a:bodyPr/>
          <a:lstStyle/>
          <a:p>
            <a:r>
              <a:rPr lang="en-US" sz="1300">
                <a:solidFill>
                  <a:srgbClr val="065F46"/>
                </a:solidFill>
              </a:rPr>
              <a:t>🌾  Jowar, bajra, ragi (millets)</a:t>
            </a:r>
          </a:p>
          <a:p>
            <a:r>
              <a:rPr lang="en-US" sz="1300">
                <a:solidFill>
                  <a:srgbClr val="065F46"/>
                </a:solidFill>
              </a:rPr>
              <a:t>🥣  Oats, quinoa, broken wheat (daliya)</a:t>
            </a:r>
          </a:p>
          <a:p>
            <a:r>
              <a:rPr lang="en-US" sz="1300">
                <a:solidFill>
                  <a:srgbClr val="065F46"/>
                </a:solidFill>
              </a:rPr>
              <a:t>🥦  Palak, methi, bathua, spinach (leafy greens)</a:t>
            </a:r>
          </a:p>
          <a:p>
            <a:r>
              <a:rPr lang="en-US" sz="1300">
                <a:solidFill>
                  <a:srgbClr val="065F46"/>
                </a:solidFill>
              </a:rPr>
              <a:t>🥬  Lauki, tinda, turai (non-starchy vegetables)</a:t>
            </a:r>
          </a:p>
          <a:p>
            <a:r>
              <a:rPr lang="en-US" sz="1300">
                <a:solidFill>
                  <a:srgbClr val="065F46"/>
                </a:solidFill>
              </a:rPr>
              <a:t>🫘  Moong dal, rajma, chana, masoor (dals &amp; legumes)</a:t>
            </a:r>
          </a:p>
          <a:p>
            <a:r>
              <a:rPr lang="en-US" sz="1300">
                <a:solidFill>
                  <a:srgbClr val="065F46"/>
                </a:solidFill>
              </a:rPr>
              <a:t>🍐  Guava, jamun, amla, pear, pomegranate (low-GI fruits)</a:t>
            </a:r>
          </a:p>
          <a:p>
            <a:r>
              <a:rPr lang="en-US" sz="1300">
                <a:solidFill>
                  <a:srgbClr val="065F46"/>
                </a:solidFill>
              </a:rPr>
              <a:t>🥜  Almonds, walnuts, makhana (nuts &amp; seeds)</a:t>
            </a:r>
          </a:p>
          <a:p>
            <a:r>
              <a:rPr lang="en-US" sz="1300">
                <a:solidFill>
                  <a:srgbClr val="065F46"/>
                </a:solidFill>
              </a:rPr>
              <a:t>🌿  Chia, flax, fenugreek seeds</a:t>
            </a:r>
          </a:p>
          <a:p>
            <a:r>
              <a:rPr lang="en-US" sz="1300">
                <a:solidFill>
                  <a:srgbClr val="065F46"/>
                </a:solidFill>
              </a:rPr>
              <a:t>🥛  Low-fat curd, chaas, limited paneer</a:t>
            </a:r>
          </a:p>
          <a:p>
            <a:r>
              <a:rPr lang="en-US" sz="1300">
                <a:solidFill>
                  <a:srgbClr val="065F46"/>
                </a:solidFill>
              </a:rPr>
              <a:t>🌿  Turmeric, cinnamon, coriander, cumin (herbs)</a:t>
            </a:r>
          </a:p>
        </p:txBody>
      </p:sp>
      <p:sp>
        <p:nvSpPr>
          <p:cNvPr id="100157" name="AvoidTitle"/>
          <p:cNvSpPr txBox="1"/>
          <p:nvPr/>
        </p:nvSpPr>
        <p:spPr>
          <a:xfrm>
            <a:off x="6300000" y="720000"/>
            <a:ext cx="5400000" cy="324000"/>
          </a:xfrm>
          <a:prstGeom prst="rect">
            <a:avLst/>
          </a:prstGeom>
          <a:noFill/>
        </p:spPr>
        <p:txBody>
          <a:bodyPr/>
          <a:lstStyle/>
          <a:p>
            <a:r>
              <a:rPr lang="en-US" sz="1800" b="1">
                <a:solidFill>
                  <a:srgbClr val="DC2626"/>
                </a:solidFill>
              </a:rPr>
              <a:t>❌  FOODS TO STRICTLY AVOID</a:t>
            </a:r>
          </a:p>
        </p:txBody>
      </p:sp>
      <p:sp>
        <p:nvSpPr>
          <p:cNvPr id="100158" name="AvoidList"/>
          <p:cNvSpPr txBox="1"/>
          <p:nvPr/>
        </p:nvSpPr>
        <p:spPr>
          <a:xfrm>
            <a:off x="6300000" y="1116000"/>
            <a:ext cx="5400000" cy="4320000"/>
          </a:xfrm>
          <a:prstGeom prst="rect">
            <a:avLst/>
          </a:prstGeom>
          <a:solidFill>
            <a:srgbClr val="FEE2E2"/>
          </a:solidFill>
        </p:spPr>
        <p:txBody>
          <a:bodyPr/>
          <a:lstStyle/>
          <a:p>
            <a:r>
              <a:rPr lang="en-US" sz="1300">
                <a:solidFill>
                  <a:srgbClr val="991B1B"/>
                </a:solidFill>
              </a:rPr>
              <a:t>🍚  White rice (large portions), maida, white bread</a:t>
            </a:r>
          </a:p>
          <a:p>
            <a:r>
              <a:rPr lang="en-US" sz="1300">
                <a:solidFill>
                  <a:srgbClr val="991B1B"/>
                </a:solidFill>
              </a:rPr>
              <a:t>🍪  Packaged biscuits, namkeen, chips</a:t>
            </a:r>
          </a:p>
          <a:p>
            <a:r>
              <a:rPr lang="en-US" sz="1300">
                <a:solidFill>
                  <a:srgbClr val="991B1B"/>
                </a:solidFill>
              </a:rPr>
              <a:t>🥤  Sugary drinks, packaged fruit juices, soda</a:t>
            </a:r>
          </a:p>
          <a:p>
            <a:r>
              <a:rPr lang="en-US" sz="1300">
                <a:solidFill>
                  <a:srgbClr val="991B1B"/>
                </a:solidFill>
              </a:rPr>
              <a:t>🧂  Pickle, papad, high-sodium sauces</a:t>
            </a:r>
          </a:p>
          <a:p>
            <a:r>
              <a:rPr lang="en-US" sz="1300">
                <a:solidFill>
                  <a:srgbClr val="991B1B"/>
                </a:solidFill>
              </a:rPr>
              <a:t>🍟  Deep fried: puri, samosa, kachori</a:t>
            </a:r>
          </a:p>
          <a:p>
            <a:r>
              <a:rPr lang="en-US" sz="1300">
                <a:solidFill>
                  <a:srgbClr val="991B1B"/>
                </a:solidFill>
              </a:rPr>
              <a:t>🧈  Full-fat dairy: cream, excess butter</a:t>
            </a:r>
          </a:p>
          <a:p>
            <a:r>
              <a:rPr lang="en-US" sz="1300">
                <a:solidFill>
                  <a:srgbClr val="991B1B"/>
                </a:solidFill>
              </a:rPr>
              <a:t>🥭  High-GI fruits: mango, excess banana, grapes</a:t>
            </a:r>
          </a:p>
          <a:p>
            <a:r>
              <a:rPr lang="en-US" sz="1300">
                <a:solidFill>
                  <a:srgbClr val="991B1B"/>
                </a:solidFill>
              </a:rPr>
              <a:t>🍬  White sugar and Indian sweets (mithai)</a:t>
            </a:r>
          </a:p>
          <a:p>
            <a:r>
              <a:rPr lang="en-US" sz="1300">
                <a:solidFill>
                  <a:srgbClr val="991B1B"/>
                </a:solidFill>
              </a:rPr>
              <a:t>☕  Excess caffeine (max 1 cup chai/coffee/day)</a:t>
            </a:r>
          </a:p>
          <a:p>
            <a:r>
              <a:rPr lang="en-US" sz="1300">
                <a:solidFill>
                  <a:srgbClr val="991B1B"/>
                </a:solidFill>
              </a:rPr>
              <a:t>🚬  Alcohol and tobacco</a:t>
            </a:r>
          </a:p>
        </p:txBody>
      </p:sp>
      <p:sp>
        <p:nvSpPr>
          <p:cNvPr id="100159"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  |  Data from sample_plan_output.md</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160"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161" name="SlideTitle"/>
          <p:cNvSpPr txBox="1"/>
          <p:nvPr/>
        </p:nvSpPr>
        <p:spPr>
          <a:xfrm>
            <a:off x="288000" y="72000"/>
            <a:ext cx="11520000" cy="432000"/>
          </a:xfrm>
          <a:prstGeom prst="rect">
            <a:avLst/>
          </a:prstGeom>
          <a:noFill/>
        </p:spPr>
        <p:txBody>
          <a:bodyPr/>
          <a:lstStyle/>
          <a:p>
            <a:r>
              <a:rPr lang="en-US" sz="2600" b="1">
                <a:solidFill>
                  <a:srgbClr val="FFFFFF"/>
                </a:solidFill>
              </a:rPr>
              <a:t>Slide 15: Weekly Shopping List (Mumbai-Specific)</a:t>
            </a:r>
          </a:p>
        </p:txBody>
      </p:sp>
      <p:sp>
        <p:nvSpPr>
          <p:cNvPr id="100162" name="ShopIntro"/>
          <p:cNvSpPr txBox="1"/>
          <p:nvPr/>
        </p:nvSpPr>
        <p:spPr>
          <a:xfrm>
            <a:off x="360000" y="720000"/>
            <a:ext cx="11160000" cy="288000"/>
          </a:xfrm>
          <a:prstGeom prst="rect">
            <a:avLst/>
          </a:prstGeom>
          <a:noFill/>
        </p:spPr>
        <p:txBody>
          <a:bodyPr/>
          <a:lstStyle/>
          <a:p>
            <a:pPr algn="ctr"/>
            <a:r>
              <a:rPr lang="en-US" sz="1600" b="1">
                <a:solidFill>
                  <a:srgbClr val="064E3B"/>
                </a:solidFill>
              </a:rPr>
              <a:t>Location-Aware Shopping List — Generated for Mumbai, India  (from sample_plan_output.md)</a:t>
            </a:r>
          </a:p>
        </p:txBody>
      </p:sp>
      <p:sp>
        <p:nvSpPr>
          <p:cNvPr id="100163" name="C1H"/>
          <p:cNvSpPr txBox="1"/>
          <p:nvPr/>
        </p:nvSpPr>
        <p:spPr>
          <a:xfrm>
            <a:off x="360000" y="1116000"/>
            <a:ext cx="2520000" cy="360000"/>
          </a:xfrm>
          <a:prstGeom prst="rect">
            <a:avLst/>
          </a:prstGeom>
          <a:solidFill>
            <a:srgbClr val="064E3B"/>
          </a:solidFill>
        </p:spPr>
        <p:txBody>
          <a:bodyPr/>
          <a:lstStyle/>
          <a:p>
            <a:pPr algn="ctr"/>
            <a:r>
              <a:rPr lang="en-US" sz="1500" b="1">
                <a:solidFill>
                  <a:srgbClr val="FFFFFF"/>
                </a:solidFill>
              </a:rPr>
              <a:t>Category</a:t>
            </a:r>
          </a:p>
        </p:txBody>
      </p:sp>
      <p:sp>
        <p:nvSpPr>
          <p:cNvPr id="100164" name="C2H"/>
          <p:cNvSpPr txBox="1"/>
          <p:nvPr/>
        </p:nvSpPr>
        <p:spPr>
          <a:xfrm>
            <a:off x="2952000" y="1116000"/>
            <a:ext cx="8640000" cy="360000"/>
          </a:xfrm>
          <a:prstGeom prst="rect">
            <a:avLst/>
          </a:prstGeom>
          <a:solidFill>
            <a:srgbClr val="064E3B"/>
          </a:solidFill>
        </p:spPr>
        <p:txBody>
          <a:bodyPr/>
          <a:lstStyle/>
          <a:p>
            <a:pPr algn="ctr"/>
            <a:r>
              <a:rPr lang="en-US" sz="1500" b="1">
                <a:solidFill>
                  <a:srgbClr val="FFFFFF"/>
                </a:solidFill>
              </a:rPr>
              <a:t>Items to Buy</a:t>
            </a:r>
          </a:p>
        </p:txBody>
      </p:sp>
      <p:sp>
        <p:nvSpPr>
          <p:cNvPr id="100165" name="C1R1"/>
          <p:cNvSpPr txBox="1"/>
          <p:nvPr/>
        </p:nvSpPr>
        <p:spPr>
          <a:xfrm>
            <a:off x="360000" y="1548000"/>
            <a:ext cx="2520000" cy="540000"/>
          </a:xfrm>
          <a:prstGeom prst="rect">
            <a:avLst/>
          </a:prstGeom>
          <a:solidFill>
            <a:srgbClr val="059669"/>
          </a:solidFill>
        </p:spPr>
        <p:txBody>
          <a:bodyPr/>
          <a:lstStyle/>
          <a:p>
            <a:pPr algn="ctr"/>
            <a:r>
              <a:rPr lang="en-US" sz="1400" b="1">
                <a:solidFill>
                  <a:srgbClr val="FFFFFF"/>
                </a:solidFill>
              </a:rPr>
              <a:t>🌾  Grains</a:t>
            </a:r>
          </a:p>
        </p:txBody>
      </p:sp>
      <p:sp>
        <p:nvSpPr>
          <p:cNvPr id="100166" name="C2R1"/>
          <p:cNvSpPr txBox="1"/>
          <p:nvPr/>
        </p:nvSpPr>
        <p:spPr>
          <a:xfrm>
            <a:off x="2952000" y="1548000"/>
            <a:ext cx="8640000" cy="540000"/>
          </a:xfrm>
          <a:prstGeom prst="rect">
            <a:avLst/>
          </a:prstGeom>
          <a:solidFill>
            <a:srgbClr val="ECFDF5"/>
          </a:solidFill>
        </p:spPr>
        <p:txBody>
          <a:bodyPr/>
          <a:lstStyle/>
          <a:p>
            <a:r>
              <a:rPr lang="en-US" sz="1300">
                <a:solidFill>
                  <a:srgbClr val="1E293B"/>
                </a:solidFill>
              </a:rPr>
              <a:t>Jowar flour, bajra flour, ragi flour, broken wheat (daliya), steel-cut oats, multigrain atta</a:t>
            </a:r>
          </a:p>
        </p:txBody>
      </p:sp>
      <p:sp>
        <p:nvSpPr>
          <p:cNvPr id="100167" name="C1R2"/>
          <p:cNvSpPr txBox="1"/>
          <p:nvPr/>
        </p:nvSpPr>
        <p:spPr>
          <a:xfrm>
            <a:off x="360000" y="2160000"/>
            <a:ext cx="2520000" cy="540000"/>
          </a:xfrm>
          <a:prstGeom prst="rect">
            <a:avLst/>
          </a:prstGeom>
          <a:solidFill>
            <a:srgbClr val="059669"/>
          </a:solidFill>
        </p:spPr>
        <p:txBody>
          <a:bodyPr/>
          <a:lstStyle/>
          <a:p>
            <a:pPr algn="ctr"/>
            <a:r>
              <a:rPr lang="en-US" sz="1400" b="1">
                <a:solidFill>
                  <a:srgbClr val="FFFFFF"/>
                </a:solidFill>
              </a:rPr>
              <a:t>🫘  Dals</a:t>
            </a:r>
          </a:p>
        </p:txBody>
      </p:sp>
      <p:sp>
        <p:nvSpPr>
          <p:cNvPr id="100168" name="C2R2"/>
          <p:cNvSpPr txBox="1"/>
          <p:nvPr/>
        </p:nvSpPr>
        <p:spPr>
          <a:xfrm>
            <a:off x="2952000" y="2160000"/>
            <a:ext cx="8640000" cy="540000"/>
          </a:xfrm>
          <a:prstGeom prst="rect">
            <a:avLst/>
          </a:prstGeom>
          <a:solidFill>
            <a:srgbClr val="F0FDF4"/>
          </a:solidFill>
        </p:spPr>
        <p:txBody>
          <a:bodyPr/>
          <a:lstStyle/>
          <a:p>
            <a:r>
              <a:rPr lang="en-US" sz="1300">
                <a:solidFill>
                  <a:srgbClr val="1E293B"/>
                </a:solidFill>
              </a:rPr>
              <a:t>Whole moong dal, masoor dal, chana dal, whole rajma (kidney beans)</a:t>
            </a:r>
          </a:p>
        </p:txBody>
      </p:sp>
      <p:sp>
        <p:nvSpPr>
          <p:cNvPr id="100169" name="C1R3"/>
          <p:cNvSpPr txBox="1"/>
          <p:nvPr/>
        </p:nvSpPr>
        <p:spPr>
          <a:xfrm>
            <a:off x="360000" y="2772000"/>
            <a:ext cx="2520000" cy="540000"/>
          </a:xfrm>
          <a:prstGeom prst="rect">
            <a:avLst/>
          </a:prstGeom>
          <a:solidFill>
            <a:srgbClr val="059669"/>
          </a:solidFill>
        </p:spPr>
        <p:txBody>
          <a:bodyPr/>
          <a:lstStyle/>
          <a:p>
            <a:pPr algn="ctr"/>
            <a:r>
              <a:rPr lang="en-US" sz="1400" b="1">
                <a:solidFill>
                  <a:srgbClr val="FFFFFF"/>
                </a:solidFill>
              </a:rPr>
              <a:t>🥦  Vegetables</a:t>
            </a:r>
          </a:p>
        </p:txBody>
      </p:sp>
      <p:sp>
        <p:nvSpPr>
          <p:cNvPr id="100170" name="C2R3"/>
          <p:cNvSpPr txBox="1"/>
          <p:nvPr/>
        </p:nvSpPr>
        <p:spPr>
          <a:xfrm>
            <a:off x="2952000" y="2772000"/>
            <a:ext cx="8640000" cy="540000"/>
          </a:xfrm>
          <a:prstGeom prst="rect">
            <a:avLst/>
          </a:prstGeom>
          <a:solidFill>
            <a:srgbClr val="ECFDF5"/>
          </a:solidFill>
        </p:spPr>
        <p:txBody>
          <a:bodyPr/>
          <a:lstStyle/>
          <a:p>
            <a:r>
              <a:rPr lang="en-US" sz="1300">
                <a:solidFill>
                  <a:srgbClr val="1E293B"/>
                </a:solidFill>
              </a:rPr>
              <a:t>Palak (spinach), methi, lauki (bottle gourd), karela (bitter gourd), beans, turai, tomato, cucumber</a:t>
            </a:r>
          </a:p>
        </p:txBody>
      </p:sp>
      <p:sp>
        <p:nvSpPr>
          <p:cNvPr id="100171" name="C1R4"/>
          <p:cNvSpPr txBox="1"/>
          <p:nvPr/>
        </p:nvSpPr>
        <p:spPr>
          <a:xfrm>
            <a:off x="360000" y="3384000"/>
            <a:ext cx="2520000" cy="540000"/>
          </a:xfrm>
          <a:prstGeom prst="rect">
            <a:avLst/>
          </a:prstGeom>
          <a:solidFill>
            <a:srgbClr val="059669"/>
          </a:solidFill>
        </p:spPr>
        <p:txBody>
          <a:bodyPr/>
          <a:lstStyle/>
          <a:p>
            <a:pPr algn="ctr"/>
            <a:r>
              <a:rPr lang="en-US" sz="1400" b="1">
                <a:solidFill>
                  <a:srgbClr val="FFFFFF"/>
                </a:solidFill>
              </a:rPr>
              <a:t>🍎  Fruits</a:t>
            </a:r>
          </a:p>
        </p:txBody>
      </p:sp>
      <p:sp>
        <p:nvSpPr>
          <p:cNvPr id="100172" name="C2R4"/>
          <p:cNvSpPr txBox="1"/>
          <p:nvPr/>
        </p:nvSpPr>
        <p:spPr>
          <a:xfrm>
            <a:off x="2952000" y="3384000"/>
            <a:ext cx="8640000" cy="540000"/>
          </a:xfrm>
          <a:prstGeom prst="rect">
            <a:avLst/>
          </a:prstGeom>
          <a:solidFill>
            <a:srgbClr val="F0FDF4"/>
          </a:solidFill>
        </p:spPr>
        <p:txBody>
          <a:bodyPr/>
          <a:lstStyle/>
          <a:p>
            <a:r>
              <a:rPr lang="en-US" sz="1300">
                <a:solidFill>
                  <a:srgbClr val="1E293B"/>
                </a:solidFill>
              </a:rPr>
              <a:t>Guava, jamun, amla, pear, pomegranate (all low-GI, safe for diabetics)</a:t>
            </a:r>
          </a:p>
        </p:txBody>
      </p:sp>
      <p:sp>
        <p:nvSpPr>
          <p:cNvPr id="100173" name="C1R5"/>
          <p:cNvSpPr txBox="1"/>
          <p:nvPr/>
        </p:nvSpPr>
        <p:spPr>
          <a:xfrm>
            <a:off x="360000" y="3996000"/>
            <a:ext cx="2520000" cy="540000"/>
          </a:xfrm>
          <a:prstGeom prst="rect">
            <a:avLst/>
          </a:prstGeom>
          <a:solidFill>
            <a:srgbClr val="059669"/>
          </a:solidFill>
        </p:spPr>
        <p:txBody>
          <a:bodyPr/>
          <a:lstStyle/>
          <a:p>
            <a:pPr algn="ctr"/>
            <a:r>
              <a:rPr lang="en-US" sz="1400" b="1">
                <a:solidFill>
                  <a:srgbClr val="FFFFFF"/>
                </a:solidFill>
              </a:rPr>
              <a:t>🥛  Dairy</a:t>
            </a:r>
          </a:p>
        </p:txBody>
      </p:sp>
      <p:sp>
        <p:nvSpPr>
          <p:cNvPr id="100174" name="C2R5"/>
          <p:cNvSpPr txBox="1"/>
          <p:nvPr/>
        </p:nvSpPr>
        <p:spPr>
          <a:xfrm>
            <a:off x="2952000" y="3996000"/>
            <a:ext cx="8640000" cy="540000"/>
          </a:xfrm>
          <a:prstGeom prst="rect">
            <a:avLst/>
          </a:prstGeom>
          <a:solidFill>
            <a:srgbClr val="ECFDF5"/>
          </a:solidFill>
        </p:spPr>
        <p:txBody>
          <a:bodyPr/>
          <a:lstStyle/>
          <a:p>
            <a:r>
              <a:rPr lang="en-US" sz="1300">
                <a:solidFill>
                  <a:srgbClr val="1E293B"/>
                </a:solidFill>
              </a:rPr>
              <a:t>Low-fat curd, chaas (buttermilk), limited paneer, skimmed milk</a:t>
            </a:r>
          </a:p>
        </p:txBody>
      </p:sp>
      <p:sp>
        <p:nvSpPr>
          <p:cNvPr id="100175" name="C1R6"/>
          <p:cNvSpPr txBox="1"/>
          <p:nvPr/>
        </p:nvSpPr>
        <p:spPr>
          <a:xfrm>
            <a:off x="360000" y="4608000"/>
            <a:ext cx="2520000" cy="540000"/>
          </a:xfrm>
          <a:prstGeom prst="rect">
            <a:avLst/>
          </a:prstGeom>
          <a:solidFill>
            <a:srgbClr val="059669"/>
          </a:solidFill>
        </p:spPr>
        <p:txBody>
          <a:bodyPr/>
          <a:lstStyle/>
          <a:p>
            <a:pPr algn="ctr"/>
            <a:r>
              <a:rPr lang="en-US" sz="1400" b="1">
                <a:solidFill>
                  <a:srgbClr val="FFFFFF"/>
                </a:solidFill>
              </a:rPr>
              <a:t>🥜  Nuts &amp; Seeds</a:t>
            </a:r>
          </a:p>
        </p:txBody>
      </p:sp>
      <p:sp>
        <p:nvSpPr>
          <p:cNvPr id="100176" name="C2R6"/>
          <p:cNvSpPr txBox="1"/>
          <p:nvPr/>
        </p:nvSpPr>
        <p:spPr>
          <a:xfrm>
            <a:off x="2952000" y="4608000"/>
            <a:ext cx="8640000" cy="540000"/>
          </a:xfrm>
          <a:prstGeom prst="rect">
            <a:avLst/>
          </a:prstGeom>
          <a:solidFill>
            <a:srgbClr val="F0FDF4"/>
          </a:solidFill>
        </p:spPr>
        <p:txBody>
          <a:bodyPr/>
          <a:lstStyle/>
          <a:p>
            <a:r>
              <a:rPr lang="en-US" sz="1300">
                <a:solidFill>
                  <a:srgbClr val="1E293B"/>
                </a:solidFill>
              </a:rPr>
              <a:t>Almonds, walnuts, makhana; chia seeds, flaxseeds, fenugreek seeds; turmeric, cinnamon</a:t>
            </a:r>
          </a:p>
        </p:txBody>
      </p:sp>
      <p:sp>
        <p:nvSpPr>
          <p:cNvPr id="100177"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  |  Data from sample_plan_output.md</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178"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179" name="SlideTitle"/>
          <p:cNvSpPr txBox="1"/>
          <p:nvPr/>
        </p:nvSpPr>
        <p:spPr>
          <a:xfrm>
            <a:off x="288000" y="72000"/>
            <a:ext cx="11520000" cy="432000"/>
          </a:xfrm>
          <a:prstGeom prst="rect">
            <a:avLst/>
          </a:prstGeom>
          <a:noFill/>
        </p:spPr>
        <p:txBody>
          <a:bodyPr/>
          <a:lstStyle/>
          <a:p>
            <a:r>
              <a:rPr lang="en-US" sz="2600" b="1">
                <a:solidFill>
                  <a:srgbClr val="FFFFFF"/>
                </a:solidFill>
              </a:rPr>
              <a:t>Slide 16: REST API &amp; Backend Architecture</a:t>
            </a:r>
          </a:p>
        </p:txBody>
      </p:sp>
      <p:sp>
        <p:nvSpPr>
          <p:cNvPr id="100180" name="APITitle"/>
          <p:cNvSpPr txBox="1"/>
          <p:nvPr/>
        </p:nvSpPr>
        <p:spPr>
          <a:xfrm>
            <a:off x="360000" y="720000"/>
            <a:ext cx="11160000" cy="324000"/>
          </a:xfrm>
          <a:prstGeom prst="rect">
            <a:avLst/>
          </a:prstGeom>
          <a:noFill/>
        </p:spPr>
        <p:txBody>
          <a:bodyPr/>
          <a:lstStyle/>
          <a:p>
            <a:r>
              <a:rPr lang="en-US" sz="1800" b="1">
                <a:solidFill>
                  <a:srgbClr val="064E3B"/>
                </a:solidFill>
              </a:rPr>
              <a:t>Flask REST API — 6 Endpoints (app.py)</a:t>
            </a:r>
          </a:p>
        </p:txBody>
      </p:sp>
      <p:sp>
        <p:nvSpPr>
          <p:cNvPr id="100181" name="E1"/>
          <p:cNvSpPr txBox="1"/>
          <p:nvPr/>
        </p:nvSpPr>
        <p:spPr>
          <a:xfrm>
            <a:off x="360000" y="1152000"/>
            <a:ext cx="1440000" cy="828000"/>
          </a:xfrm>
          <a:prstGeom prst="rect">
            <a:avLst/>
          </a:prstGeom>
          <a:solidFill>
            <a:srgbClr val="059669"/>
          </a:solidFill>
        </p:spPr>
        <p:txBody>
          <a:bodyPr/>
          <a:lstStyle/>
          <a:p>
            <a:pPr algn="ctr"/>
            <a:r>
              <a:rPr lang="en-US" sz="1300" b="1">
                <a:solidFill>
                  <a:srgbClr val="FFFFFF"/>
                </a:solidFill>
              </a:rPr>
              <a:t>GET</a:t>
            </a:r>
          </a:p>
          <a:p>
            <a:pPr algn="ctr"/>
            <a:r>
              <a:rPr lang="en-US" sz="1300" b="1">
                <a:solidFill>
                  <a:srgbClr val="FFFFFF"/>
                </a:solidFill>
              </a:rPr>
              <a:t>/api/health</a:t>
            </a:r>
          </a:p>
        </p:txBody>
      </p:sp>
      <p:sp>
        <p:nvSpPr>
          <p:cNvPr id="100182" name="E1D"/>
          <p:cNvSpPr txBox="1"/>
          <p:nvPr/>
        </p:nvSpPr>
        <p:spPr>
          <a:xfrm>
            <a:off x="1872000" y="1152000"/>
            <a:ext cx="4140000" cy="828000"/>
          </a:xfrm>
          <a:prstGeom prst="rect">
            <a:avLst/>
          </a:prstGeom>
          <a:solidFill>
            <a:srgbClr val="ECFDF5"/>
          </a:solidFill>
        </p:spPr>
        <p:txBody>
          <a:bodyPr/>
          <a:lstStyle/>
          <a:p>
            <a:r>
              <a:rPr lang="en-US" sz="1300">
                <a:solidFill>
                  <a:srgbClr val="1E293B"/>
                </a:solidFill>
              </a:rPr>
              <a:t>Service health check. Returns status, version, IBM Granite config, and mode (live/demo).</a:t>
            </a:r>
          </a:p>
        </p:txBody>
      </p:sp>
      <p:sp>
        <p:nvSpPr>
          <p:cNvPr id="100183" name="E2"/>
          <p:cNvSpPr txBox="1"/>
          <p:nvPr/>
        </p:nvSpPr>
        <p:spPr>
          <a:xfrm>
            <a:off x="6300000" y="1152000"/>
            <a:ext cx="1800000" cy="828000"/>
          </a:xfrm>
          <a:prstGeom prst="rect">
            <a:avLst/>
          </a:prstGeom>
          <a:solidFill>
            <a:srgbClr val="2563EB"/>
          </a:solidFill>
        </p:spPr>
        <p:txBody>
          <a:bodyPr/>
          <a:lstStyle/>
          <a:p>
            <a:pPr algn="ctr"/>
            <a:r>
              <a:rPr lang="en-US" sz="1300" b="1">
                <a:solidFill>
                  <a:srgbClr val="FFFFFF"/>
                </a:solidFill>
              </a:rPr>
              <a:t>POST</a:t>
            </a:r>
          </a:p>
          <a:p>
            <a:pPr algn="ctr"/>
            <a:r>
              <a:rPr lang="en-US" sz="1300" b="1">
                <a:solidFill>
                  <a:srgbClr val="FFFFFF"/>
                </a:solidFill>
              </a:rPr>
              <a:t>/api/generate-plan</a:t>
            </a:r>
          </a:p>
        </p:txBody>
      </p:sp>
      <p:sp>
        <p:nvSpPr>
          <p:cNvPr id="100184" name="E2D"/>
          <p:cNvSpPr txBox="1"/>
          <p:nvPr/>
        </p:nvSpPr>
        <p:spPr>
          <a:xfrm>
            <a:off x="8172000" y="1152000"/>
            <a:ext cx="3780000" cy="828000"/>
          </a:xfrm>
          <a:prstGeom prst="rect">
            <a:avLst/>
          </a:prstGeom>
          <a:solidFill>
            <a:srgbClr val="DBEAFE"/>
          </a:solidFill>
        </p:spPr>
        <p:txBody>
          <a:bodyPr/>
          <a:lstStyle/>
          <a:p>
            <a:r>
              <a:rPr lang="en-US" sz="1300">
                <a:solidFill>
                  <a:srgbClr val="1E293B"/>
                </a:solidFill>
              </a:rPr>
              <a:t>Generate + save personalized nutrition plan. Body: name, age, diet, medical_history, city, country, goals.</a:t>
            </a:r>
          </a:p>
        </p:txBody>
      </p:sp>
      <p:sp>
        <p:nvSpPr>
          <p:cNvPr id="100185" name="E3"/>
          <p:cNvSpPr txBox="1"/>
          <p:nvPr/>
        </p:nvSpPr>
        <p:spPr>
          <a:xfrm>
            <a:off x="360000" y="2160000"/>
            <a:ext cx="1440000" cy="828000"/>
          </a:xfrm>
          <a:prstGeom prst="rect">
            <a:avLst/>
          </a:prstGeom>
          <a:solidFill>
            <a:srgbClr val="2563EB"/>
          </a:solidFill>
        </p:spPr>
        <p:txBody>
          <a:bodyPr/>
          <a:lstStyle/>
          <a:p>
            <a:pPr algn="ctr"/>
            <a:r>
              <a:rPr lang="en-US" sz="1300" b="1">
                <a:solidFill>
                  <a:srgbClr val="FFFFFF"/>
                </a:solidFill>
              </a:rPr>
              <a:t>POST</a:t>
            </a:r>
          </a:p>
          <a:p>
            <a:pPr algn="ctr"/>
            <a:r>
              <a:rPr lang="en-US" sz="1300" b="1">
                <a:solidFill>
                  <a:srgbClr val="FFFFFF"/>
                </a:solidFill>
              </a:rPr>
              <a:t>/api/chat</a:t>
            </a:r>
          </a:p>
        </p:txBody>
      </p:sp>
      <p:sp>
        <p:nvSpPr>
          <p:cNvPr id="100186" name="E3D"/>
          <p:cNvSpPr txBox="1"/>
          <p:nvPr/>
        </p:nvSpPr>
        <p:spPr>
          <a:xfrm>
            <a:off x="1872000" y="2160000"/>
            <a:ext cx="4140000" cy="828000"/>
          </a:xfrm>
          <a:prstGeom prst="rect">
            <a:avLst/>
          </a:prstGeom>
          <a:solidFill>
            <a:srgbClr val="DBEAFE"/>
          </a:solidFill>
        </p:spPr>
        <p:txBody>
          <a:bodyPr/>
          <a:lstStyle/>
          <a:p>
            <a:r>
              <a:rPr lang="en-US" sz="1300">
                <a:solidFill>
                  <a:srgbClr val="1E293B"/>
                </a:solidFill>
              </a:rPr>
              <a:t>Agentic chatbot. Body: message, profile, session_id. Returns: response, tool_used, safe boolean.</a:t>
            </a:r>
          </a:p>
        </p:txBody>
      </p:sp>
      <p:sp>
        <p:nvSpPr>
          <p:cNvPr id="100187" name="E4"/>
          <p:cNvSpPr txBox="1"/>
          <p:nvPr/>
        </p:nvSpPr>
        <p:spPr>
          <a:xfrm>
            <a:off x="6300000" y="2160000"/>
            <a:ext cx="1800000" cy="828000"/>
          </a:xfrm>
          <a:prstGeom prst="rect">
            <a:avLst/>
          </a:prstGeom>
          <a:solidFill>
            <a:srgbClr val="059669"/>
          </a:solidFill>
        </p:spPr>
        <p:txBody>
          <a:bodyPr/>
          <a:lstStyle/>
          <a:p>
            <a:pPr algn="ctr"/>
            <a:r>
              <a:rPr lang="en-US" sz="1300" b="1">
                <a:solidFill>
                  <a:srgbClr val="FFFFFF"/>
                </a:solidFill>
              </a:rPr>
              <a:t>GET</a:t>
            </a:r>
          </a:p>
          <a:p>
            <a:pPr algn="ctr"/>
            <a:r>
              <a:rPr lang="en-US" sz="1300" b="1">
                <a:solidFill>
                  <a:srgbClr val="FFFFFF"/>
                </a:solidFill>
              </a:rPr>
              <a:t>/api/plans</a:t>
            </a:r>
          </a:p>
        </p:txBody>
      </p:sp>
      <p:sp>
        <p:nvSpPr>
          <p:cNvPr id="100188" name="E4D"/>
          <p:cNvSpPr txBox="1"/>
          <p:nvPr/>
        </p:nvSpPr>
        <p:spPr>
          <a:xfrm>
            <a:off x="8172000" y="2160000"/>
            <a:ext cx="3780000" cy="828000"/>
          </a:xfrm>
          <a:prstGeom prst="rect">
            <a:avLst/>
          </a:prstGeom>
          <a:solidFill>
            <a:srgbClr val="ECFDF5"/>
          </a:solidFill>
        </p:spPr>
        <p:txBody>
          <a:bodyPr/>
          <a:lstStyle/>
          <a:p>
            <a:r>
              <a:rPr lang="en-US" sz="1300">
                <a:solidFill>
                  <a:srgbClr val="1E293B"/>
                </a:solidFill>
              </a:rPr>
              <a:t>List all saved .md plan files. Returns filename, size_kb, modified timestamp.</a:t>
            </a:r>
          </a:p>
        </p:txBody>
      </p:sp>
      <p:sp>
        <p:nvSpPr>
          <p:cNvPr id="100189" name="E5"/>
          <p:cNvSpPr txBox="1"/>
          <p:nvPr/>
        </p:nvSpPr>
        <p:spPr>
          <a:xfrm>
            <a:off x="360000" y="3168000"/>
            <a:ext cx="1440000" cy="900000"/>
          </a:xfrm>
          <a:prstGeom prst="rect">
            <a:avLst/>
          </a:prstGeom>
          <a:solidFill>
            <a:srgbClr val="059669"/>
          </a:solidFill>
        </p:spPr>
        <p:txBody>
          <a:bodyPr/>
          <a:lstStyle/>
          <a:p>
            <a:pPr algn="ctr"/>
            <a:r>
              <a:rPr lang="en-US" sz="1300" b="1">
                <a:solidFill>
                  <a:srgbClr val="FFFFFF"/>
                </a:solidFill>
              </a:rPr>
              <a:t>GET</a:t>
            </a:r>
          </a:p>
          <a:p>
            <a:pPr algn="ctr"/>
            <a:r>
              <a:rPr lang="en-US" sz="1300" b="1">
                <a:solidFill>
                  <a:srgbClr val="FFFFFF"/>
                </a:solidFill>
              </a:rPr>
              <a:t>/api/plans/</a:t>
            </a:r>
          </a:p>
          <a:p>
            <a:pPr algn="ctr"/>
            <a:r>
              <a:rPr lang="en-US" sz="1300" b="1">
                <a:solidFill>
                  <a:srgbClr val="FFFFFF"/>
                </a:solidFill>
              </a:rPr>
              <a:t>&lt;filename&gt;</a:t>
            </a:r>
          </a:p>
        </p:txBody>
      </p:sp>
      <p:sp>
        <p:nvSpPr>
          <p:cNvPr id="100190" name="E5D"/>
          <p:cNvSpPr txBox="1"/>
          <p:nvPr/>
        </p:nvSpPr>
        <p:spPr>
          <a:xfrm>
            <a:off x="1872000" y="3168000"/>
            <a:ext cx="4140000" cy="900000"/>
          </a:xfrm>
          <a:prstGeom prst="rect">
            <a:avLst/>
          </a:prstGeom>
          <a:solidFill>
            <a:srgbClr val="ECFDF5"/>
          </a:solidFill>
        </p:spPr>
        <p:txBody>
          <a:bodyPr/>
          <a:lstStyle/>
          <a:p>
            <a:r>
              <a:rPr lang="en-US" sz="1300">
                <a:solidFill>
                  <a:srgbClr val="1E293B"/>
                </a:solidFill>
              </a:rPr>
              <a:t>Download a specific plan as .md file. Security: only .md files, no path traversal allowed.</a:t>
            </a:r>
          </a:p>
        </p:txBody>
      </p:sp>
      <p:sp>
        <p:nvSpPr>
          <p:cNvPr id="100191" name="E6"/>
          <p:cNvSpPr txBox="1"/>
          <p:nvPr/>
        </p:nvSpPr>
        <p:spPr>
          <a:xfrm>
            <a:off x="6300000" y="3168000"/>
            <a:ext cx="1800000" cy="900000"/>
          </a:xfrm>
          <a:prstGeom prst="rect">
            <a:avLst/>
          </a:prstGeom>
          <a:solidFill>
            <a:srgbClr val="7C3AED"/>
          </a:solidFill>
        </p:spPr>
        <p:txBody>
          <a:bodyPr/>
          <a:lstStyle/>
          <a:p>
            <a:pPr algn="ctr"/>
            <a:r>
              <a:rPr lang="en-US" sz="1300" b="1">
                <a:solidFill>
                  <a:srgbClr val="FFFFFF"/>
                </a:solidFill>
              </a:rPr>
              <a:t>GET/DEL</a:t>
            </a:r>
          </a:p>
          <a:p>
            <a:pPr algn="ctr"/>
            <a:r>
              <a:rPr lang="en-US" sz="1300" b="1">
                <a:solidFill>
                  <a:srgbClr val="FFFFFF"/>
                </a:solidFill>
              </a:rPr>
              <a:t>/api/session/</a:t>
            </a:r>
          </a:p>
          <a:p>
            <a:pPr algn="ctr"/>
            <a:r>
              <a:rPr lang="en-US" sz="1300" b="1">
                <a:solidFill>
                  <a:srgbClr val="FFFFFF"/>
                </a:solidFill>
              </a:rPr>
              <a:t>&lt;id&gt;</a:t>
            </a:r>
          </a:p>
        </p:txBody>
      </p:sp>
      <p:sp>
        <p:nvSpPr>
          <p:cNvPr id="100192" name="E6D"/>
          <p:cNvSpPr txBox="1"/>
          <p:nvPr/>
        </p:nvSpPr>
        <p:spPr>
          <a:xfrm>
            <a:off x="8172000" y="3168000"/>
            <a:ext cx="3780000" cy="900000"/>
          </a:xfrm>
          <a:prstGeom prst="rect">
            <a:avLst/>
          </a:prstGeom>
          <a:solidFill>
            <a:srgbClr val="EDE9FE"/>
          </a:solidFill>
        </p:spPr>
        <p:txBody>
          <a:bodyPr/>
          <a:lstStyle/>
          <a:p>
            <a:r>
              <a:rPr lang="en-US" sz="1300">
                <a:solidFill>
                  <a:srgbClr val="1E293B"/>
                </a:solidFill>
              </a:rPr>
              <a:t>GET: Retrieve conversation history. DELETE: Clear session memory. Used for multi-turn chat context.</a:t>
            </a:r>
          </a:p>
        </p:txBody>
      </p:sp>
      <p:sp>
        <p:nvSpPr>
          <p:cNvPr id="100193" name="FeatTitle"/>
          <p:cNvSpPr txBox="1"/>
          <p:nvPr/>
        </p:nvSpPr>
        <p:spPr>
          <a:xfrm>
            <a:off x="360000" y="4320000"/>
            <a:ext cx="11160000" cy="288000"/>
          </a:xfrm>
          <a:prstGeom prst="rect">
            <a:avLst/>
          </a:prstGeom>
          <a:noFill/>
        </p:spPr>
        <p:txBody>
          <a:bodyPr/>
          <a:lstStyle/>
          <a:p>
            <a:r>
              <a:rPr lang="en-US" sz="1600" b="1">
                <a:solidFill>
                  <a:srgbClr val="064E3B"/>
                </a:solidFill>
              </a:rPr>
              <a:t>Key Backend Features</a:t>
            </a:r>
          </a:p>
        </p:txBody>
      </p:sp>
      <p:sp>
        <p:nvSpPr>
          <p:cNvPr id="100194" name="Feats"/>
          <p:cNvSpPr txBox="1"/>
          <p:nvPr/>
        </p:nvSpPr>
        <p:spPr>
          <a:xfrm>
            <a:off x="360000" y="4680000"/>
            <a:ext cx="11160000" cy="900000"/>
          </a:xfrm>
          <a:prstGeom prst="rect">
            <a:avLst/>
          </a:prstGeom>
          <a:solidFill>
            <a:srgbClr val="F0FDF4"/>
          </a:solidFill>
        </p:spPr>
        <p:txBody>
          <a:bodyPr/>
          <a:lstStyle/>
          <a:p>
            <a:r>
              <a:rPr lang="en-US" sz="1300">
                <a:solidFill>
                  <a:srgbClr val="1E293B"/>
                </a:solidFill>
              </a:rPr>
              <a:t>Flask-CORS enabled  |  Input JSON validation  |  Graceful error handling  |  UUID session IDs  |  .md file security (path traversal prevention)  |  Auto-create plans/ directory  |  python-dotenv for credentials  |  Production-ready with gunicorn</a:t>
            </a:r>
          </a:p>
        </p:txBody>
      </p:sp>
      <p:sp>
        <p:nvSpPr>
          <p:cNvPr id="100195"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196"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197" name="SlideTitle"/>
          <p:cNvSpPr txBox="1"/>
          <p:nvPr/>
        </p:nvSpPr>
        <p:spPr>
          <a:xfrm>
            <a:off x="288000" y="72000"/>
            <a:ext cx="11520000" cy="432000"/>
          </a:xfrm>
          <a:prstGeom prst="rect">
            <a:avLst/>
          </a:prstGeom>
          <a:noFill/>
        </p:spPr>
        <p:txBody>
          <a:bodyPr/>
          <a:lstStyle/>
          <a:p>
            <a:r>
              <a:rPr lang="en-US" sz="2600" b="1">
                <a:solidFill>
                  <a:srgbClr val="FFFFFF"/>
                </a:solidFill>
              </a:rPr>
              <a:t>Slide 17: .md Plan File Output — Structure</a:t>
            </a:r>
          </a:p>
        </p:txBody>
      </p:sp>
      <p:sp>
        <p:nvSpPr>
          <p:cNvPr id="100198" name="MDTitle"/>
          <p:cNvSpPr txBox="1"/>
          <p:nvPr/>
        </p:nvSpPr>
        <p:spPr>
          <a:xfrm>
            <a:off x="360000" y="720000"/>
            <a:ext cx="11160000" cy="324000"/>
          </a:xfrm>
          <a:prstGeom prst="rect">
            <a:avLst/>
          </a:prstGeom>
          <a:solidFill>
            <a:srgbClr val="ECFDF5"/>
          </a:solidFill>
        </p:spPr>
        <p:txBody>
          <a:bodyPr/>
          <a:lstStyle/>
          <a:p>
            <a:r>
              <a:rPr lang="en-US" sz="1600" b="1">
                <a:solidFill>
                  <a:srgbClr val="064E3B"/>
                </a:solidFill>
              </a:rPr>
              <a:t>Saved Markdown File:  nutrition_plan_Priya_Sharma_20241201_143022.md</a:t>
            </a:r>
          </a:p>
        </p:txBody>
      </p:sp>
      <p:sp>
        <p:nvSpPr>
          <p:cNvPr id="100199" name="S1H"/>
          <p:cNvSpPr txBox="1"/>
          <p:nvPr/>
        </p:nvSpPr>
        <p:spPr>
          <a:xfrm>
            <a:off x="360000" y="1152000"/>
            <a:ext cx="1800000" cy="360000"/>
          </a:xfrm>
          <a:prstGeom prst="rect">
            <a:avLst/>
          </a:prstGeom>
          <a:solidFill>
            <a:srgbClr val="064E3B"/>
          </a:solidFill>
        </p:spPr>
        <p:txBody>
          <a:bodyPr/>
          <a:lstStyle/>
          <a:p>
            <a:pPr algn="ctr"/>
            <a:r>
              <a:rPr lang="en-US" sz="1400" b="1">
                <a:solidFill>
                  <a:srgbClr val="FFFFFF"/>
                </a:solidFill>
              </a:rPr>
              <a:t>Section 1</a:t>
            </a:r>
          </a:p>
        </p:txBody>
      </p:sp>
      <p:sp>
        <p:nvSpPr>
          <p:cNvPr id="100200" name="S1D"/>
          <p:cNvSpPr txBox="1"/>
          <p:nvPr/>
        </p:nvSpPr>
        <p:spPr>
          <a:xfrm>
            <a:off x="2232000" y="1152000"/>
            <a:ext cx="4320000" cy="1080000"/>
          </a:xfrm>
          <a:prstGeom prst="rect">
            <a:avLst/>
          </a:prstGeom>
          <a:solidFill>
            <a:srgbClr val="ECFDF5"/>
          </a:solidFill>
        </p:spPr>
        <p:txBody>
          <a:bodyPr/>
          <a:lstStyle/>
          <a:p>
            <a:r>
              <a:rPr lang="en-US" sz="1300">
                <a:solidFill>
                  <a:srgbClr val="1E293B"/>
                </a:solidFill>
              </a:rPr>
              <a:t>FILE HEADER</a:t>
            </a:r>
          </a:p>
          <a:p>
            <a:r>
              <a:rPr lang="en-US" sz="1300">
                <a:solidFill>
                  <a:srgbClr val="1E293B"/>
                </a:solidFill>
              </a:rPr>
              <a:t>Generated by NutriAI — IBM Granite LLM</a:t>
            </a:r>
          </a:p>
          <a:p>
            <a:r>
              <a:rPr lang="en-US" sz="1300">
                <a:solidFill>
                  <a:srgbClr val="1E293B"/>
                </a:solidFill>
              </a:rPr>
              <a:t>Date &amp; time of generation</a:t>
            </a:r>
          </a:p>
          <a:p>
            <a:r>
              <a:rPr lang="en-US" sz="1300">
                <a:solidFill>
                  <a:srgbClr val="1E293B"/>
                </a:solidFill>
              </a:rPr>
              <a:t>User profile summary table (8 fields)</a:t>
            </a:r>
          </a:p>
        </p:txBody>
      </p:sp>
      <p:sp>
        <p:nvSpPr>
          <p:cNvPr id="100201" name="S2H"/>
          <p:cNvSpPr txBox="1"/>
          <p:nvPr/>
        </p:nvSpPr>
        <p:spPr>
          <a:xfrm>
            <a:off x="360000" y="2448000"/>
            <a:ext cx="1800000" cy="360000"/>
          </a:xfrm>
          <a:prstGeom prst="rect">
            <a:avLst/>
          </a:prstGeom>
          <a:solidFill>
            <a:srgbClr val="059669"/>
          </a:solidFill>
        </p:spPr>
        <p:txBody>
          <a:bodyPr/>
          <a:lstStyle/>
          <a:p>
            <a:pPr algn="ctr"/>
            <a:r>
              <a:rPr lang="en-US" sz="1400" b="1">
                <a:solidFill>
                  <a:srgbClr val="FFFFFF"/>
                </a:solidFill>
              </a:rPr>
              <a:t>Section 2</a:t>
            </a:r>
          </a:p>
        </p:txBody>
      </p:sp>
      <p:sp>
        <p:nvSpPr>
          <p:cNvPr id="100202" name="S2D"/>
          <p:cNvSpPr txBox="1"/>
          <p:nvPr/>
        </p:nvSpPr>
        <p:spPr>
          <a:xfrm>
            <a:off x="2232000" y="2448000"/>
            <a:ext cx="4320000" cy="1080000"/>
          </a:xfrm>
          <a:prstGeom prst="rect">
            <a:avLst/>
          </a:prstGeom>
          <a:solidFill>
            <a:srgbClr val="ECFDF5"/>
          </a:solidFill>
        </p:spPr>
        <p:txBody>
          <a:bodyPr/>
          <a:lstStyle/>
          <a:p>
            <a:r>
              <a:rPr lang="en-US" sz="1300">
                <a:solidFill>
                  <a:srgbClr val="1E293B"/>
                </a:solidFill>
              </a:rPr>
              <a:t>MACRO TARGETS TABLE</a:t>
            </a:r>
          </a:p>
          <a:p>
            <a:r>
              <a:rPr lang="en-US" sz="1300">
                <a:solidFill>
                  <a:srgbClr val="1E293B"/>
                </a:solidFill>
              </a:rPr>
              <a:t>Calories, Protein, Carbs, Fats,</a:t>
            </a:r>
          </a:p>
          <a:p>
            <a:r>
              <a:rPr lang="en-US" sz="1300">
                <a:solidFill>
                  <a:srgbClr val="1E293B"/>
                </a:solidFill>
              </a:rPr>
              <a:t>Fiber, Water, Sodium</a:t>
            </a:r>
          </a:p>
          <a:p>
            <a:r>
              <a:rPr lang="en-US" sz="1300">
                <a:solidFill>
                  <a:srgbClr val="1E293B"/>
                </a:solidFill>
              </a:rPr>
              <a:t>With daily targets and reasoning</a:t>
            </a:r>
          </a:p>
        </p:txBody>
      </p:sp>
      <p:sp>
        <p:nvSpPr>
          <p:cNvPr id="100203" name="S3H"/>
          <p:cNvSpPr txBox="1"/>
          <p:nvPr/>
        </p:nvSpPr>
        <p:spPr>
          <a:xfrm>
            <a:off x="360000" y="3744000"/>
            <a:ext cx="1800000" cy="360000"/>
          </a:xfrm>
          <a:prstGeom prst="rect">
            <a:avLst/>
          </a:prstGeom>
          <a:solidFill>
            <a:srgbClr val="2563EB"/>
          </a:solidFill>
        </p:spPr>
        <p:txBody>
          <a:bodyPr/>
          <a:lstStyle/>
          <a:p>
            <a:pPr algn="ctr"/>
            <a:r>
              <a:rPr lang="en-US" sz="1400" b="1">
                <a:solidFill>
                  <a:srgbClr val="FFFFFF"/>
                </a:solidFill>
              </a:rPr>
              <a:t>Section 3</a:t>
            </a:r>
          </a:p>
        </p:txBody>
      </p:sp>
      <p:sp>
        <p:nvSpPr>
          <p:cNvPr id="100204" name="S3D"/>
          <p:cNvSpPr txBox="1"/>
          <p:nvPr/>
        </p:nvSpPr>
        <p:spPr>
          <a:xfrm>
            <a:off x="2232000" y="3744000"/>
            <a:ext cx="4320000" cy="1080000"/>
          </a:xfrm>
          <a:prstGeom prst="rect">
            <a:avLst/>
          </a:prstGeom>
          <a:solidFill>
            <a:srgbClr val="ECFDF5"/>
          </a:solidFill>
        </p:spPr>
        <p:txBody>
          <a:bodyPr/>
          <a:lstStyle/>
          <a:p>
            <a:r>
              <a:rPr lang="en-US" sz="1300">
                <a:solidFill>
                  <a:srgbClr val="1E293B"/>
                </a:solidFill>
              </a:rPr>
              <a:t>FULL MEAL PLAN</a:t>
            </a:r>
          </a:p>
          <a:p>
            <a:r>
              <a:rPr lang="en-US" sz="1300">
                <a:solidFill>
                  <a:srgbClr val="1E293B"/>
                </a:solidFill>
              </a:rPr>
              <a:t>Breakfast · Snack · Lunch · Snack</a:t>
            </a:r>
          </a:p>
          <a:p>
            <a:r>
              <a:rPr lang="en-US" sz="1300">
                <a:solidFill>
                  <a:srgbClr val="1E293B"/>
                </a:solidFill>
              </a:rPr>
              <a:t>Dinner · Post-dinner options</a:t>
            </a:r>
          </a:p>
          <a:p>
            <a:r>
              <a:rPr lang="en-US" sz="1300">
                <a:solidFill>
                  <a:srgbClr val="1E293B"/>
                </a:solidFill>
              </a:rPr>
              <a:t>Hydration schedule table</a:t>
            </a:r>
          </a:p>
        </p:txBody>
      </p:sp>
      <p:sp>
        <p:nvSpPr>
          <p:cNvPr id="100205" name="S4H"/>
          <p:cNvSpPr txBox="1"/>
          <p:nvPr/>
        </p:nvSpPr>
        <p:spPr>
          <a:xfrm>
            <a:off x="360000" y="5040000"/>
            <a:ext cx="1800000" cy="360000"/>
          </a:xfrm>
          <a:prstGeom prst="rect">
            <a:avLst/>
          </a:prstGeom>
          <a:solidFill>
            <a:srgbClr val="7C3AED"/>
          </a:solidFill>
        </p:spPr>
        <p:txBody>
          <a:bodyPr/>
          <a:lstStyle/>
          <a:p>
            <a:pPr algn="ctr"/>
            <a:r>
              <a:rPr lang="en-US" sz="1400" b="1">
                <a:solidFill>
                  <a:srgbClr val="FFFFFF"/>
                </a:solidFill>
              </a:rPr>
              <a:t>Section 4</a:t>
            </a:r>
          </a:p>
        </p:txBody>
      </p:sp>
      <p:sp>
        <p:nvSpPr>
          <p:cNvPr id="100206" name="S4D"/>
          <p:cNvSpPr txBox="1"/>
          <p:nvPr/>
        </p:nvSpPr>
        <p:spPr>
          <a:xfrm>
            <a:off x="2232000" y="5040000"/>
            <a:ext cx="4320000" cy="1080000"/>
          </a:xfrm>
          <a:prstGeom prst="rect">
            <a:avLst/>
          </a:prstGeom>
          <a:solidFill>
            <a:srgbClr val="ECFDF5"/>
          </a:solidFill>
        </p:spPr>
        <p:txBody>
          <a:bodyPr/>
          <a:lstStyle/>
          <a:p>
            <a:r>
              <a:rPr lang="en-US" sz="1300">
                <a:solidFill>
                  <a:srgbClr val="1E293B"/>
                </a:solidFill>
              </a:rPr>
              <a:t>MEDICAL GUIDELINES + SHOPPING LIST</a:t>
            </a:r>
          </a:p>
          <a:p>
            <a:r>
              <a:rPr lang="en-US" sz="1300">
                <a:solidFill>
                  <a:srgbClr val="1E293B"/>
                </a:solidFill>
              </a:rPr>
              <a:t>Diabetes &amp; Hypertension specific rules</a:t>
            </a:r>
          </a:p>
          <a:p>
            <a:r>
              <a:rPr lang="en-US" sz="1300">
                <a:solidFill>
                  <a:srgbClr val="1E293B"/>
                </a:solidFill>
              </a:rPr>
              <a:t>Foods to emphasize &amp; avoid</a:t>
            </a:r>
          </a:p>
          <a:p>
            <a:r>
              <a:rPr lang="en-US" sz="1300">
                <a:solidFill>
                  <a:srgbClr val="1E293B"/>
                </a:solidFill>
              </a:rPr>
              <a:t>Weekly shopping list (Mumbai-specific)</a:t>
            </a:r>
          </a:p>
        </p:txBody>
      </p:sp>
      <p:sp>
        <p:nvSpPr>
          <p:cNvPr id="100207" name="DisclBox"/>
          <p:cNvSpPr txBox="1"/>
          <p:nvPr/>
        </p:nvSpPr>
        <p:spPr>
          <a:xfrm>
            <a:off x="7020000" y="1152000"/>
            <a:ext cx="4860000" cy="2880000"/>
          </a:xfrm>
          <a:prstGeom prst="rect">
            <a:avLst/>
          </a:prstGeom>
          <a:solidFill>
            <a:srgbClr val="FEF3C7"/>
          </a:solidFill>
        </p:spPr>
        <p:txBody>
          <a:bodyPr/>
          <a:lstStyle/>
          <a:p>
            <a:r>
              <a:rPr lang="en-US" sz="1300">
                <a:solidFill>
                  <a:srgbClr val="78350F"/>
                </a:solidFill>
              </a:rPr>
              <a:t>⚠️  MEDICAL DISCLAIMER  (auto-appended to every plan)</a:t>
            </a:r>
          </a:p>
          <a:p>
            <a:endParaRPr lang="en-US" sz="1300">
              <a:solidFill>
                <a:srgbClr val="78350F"/>
              </a:solidFill>
            </a:endParaRPr>
          </a:p>
          <a:p>
            <a:r>
              <a:rPr lang="en-US" sz="1300">
                <a:solidFill>
                  <a:srgbClr val="78350F"/>
                </a:solidFill>
              </a:rPr>
              <a:t>This plan is for informational purposes only. Not a substitute for professional medical advice. Always consult a qualified physician, registered dietitian, or licensed nutritionist. In case of emergency, contact local emergency services.</a:t>
            </a:r>
          </a:p>
        </p:txBody>
      </p:sp>
      <p:sp>
        <p:nvSpPr>
          <p:cNvPr id="100208" name="DLBtn"/>
          <p:cNvSpPr txBox="1"/>
          <p:nvPr/>
        </p:nvSpPr>
        <p:spPr>
          <a:xfrm>
            <a:off x="7020000" y="4320000"/>
            <a:ext cx="4860000" cy="1800000"/>
          </a:xfrm>
          <a:prstGeom prst="rect">
            <a:avLst/>
          </a:prstGeom>
          <a:solidFill>
            <a:srgbClr val="D1FAE5"/>
          </a:solidFill>
        </p:spPr>
        <p:txBody>
          <a:bodyPr/>
          <a:lstStyle/>
          <a:p>
            <a:r>
              <a:rPr lang="en-US" sz="1300">
                <a:solidFill>
                  <a:srgbClr val="065F46"/>
                </a:solidFill>
              </a:rPr>
              <a:t>⬇️  Download .md Button</a:t>
            </a:r>
          </a:p>
          <a:p>
            <a:endParaRPr lang="en-US" sz="1300">
              <a:solidFill>
                <a:srgbClr val="065F46"/>
              </a:solidFill>
            </a:endParaRPr>
          </a:p>
          <a:p>
            <a:r>
              <a:rPr lang="en-US" sz="1300">
                <a:solidFill>
                  <a:srgbClr val="065F46"/>
                </a:solidFill>
              </a:rPr>
              <a:t>Each generated plan is saved to</a:t>
            </a:r>
          </a:p>
          <a:p>
            <a:r>
              <a:rPr lang="en-US" sz="1300">
                <a:solidFill>
                  <a:srgbClr val="065F46"/>
                </a:solidFill>
              </a:rPr>
              <a:t>plans/ directory with timestamp.</a:t>
            </a:r>
          </a:p>
          <a:p>
            <a:r>
              <a:rPr lang="en-US" sz="1300">
                <a:solidFill>
                  <a:srgbClr val="065F46"/>
                </a:solidFill>
              </a:rPr>
              <a:t>Accessible via Saved Plans tab.</a:t>
            </a:r>
          </a:p>
        </p:txBody>
      </p:sp>
      <p:sp>
        <p:nvSpPr>
          <p:cNvPr id="100209"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  |  Data from sample_plan_output.md</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210"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211" name="SlideTitle"/>
          <p:cNvSpPr txBox="1"/>
          <p:nvPr/>
        </p:nvSpPr>
        <p:spPr>
          <a:xfrm>
            <a:off x="288000" y="72000"/>
            <a:ext cx="11520000" cy="432000"/>
          </a:xfrm>
          <a:prstGeom prst="rect">
            <a:avLst/>
          </a:prstGeom>
          <a:noFill/>
        </p:spPr>
        <p:txBody>
          <a:bodyPr/>
          <a:lstStyle/>
          <a:p>
            <a:r>
              <a:rPr lang="en-US" sz="2600" b="1">
                <a:solidFill>
                  <a:srgbClr val="FFFFFF"/>
                </a:solidFill>
              </a:rPr>
              <a:t>Slide 18: GitHub Deployment &amp; Project Files</a:t>
            </a:r>
          </a:p>
        </p:txBody>
      </p:sp>
      <p:sp>
        <p:nvSpPr>
          <p:cNvPr id="100212" name="RepoLink"/>
          <p:cNvSpPr txBox="1"/>
          <p:nvPr/>
        </p:nvSpPr>
        <p:spPr>
          <a:xfrm>
            <a:off x="360000" y="720000"/>
            <a:ext cx="11160000" cy="360000"/>
          </a:xfrm>
          <a:prstGeom prst="rect">
            <a:avLst/>
          </a:prstGeom>
          <a:solidFill>
            <a:srgbClr val="EFF6FF"/>
          </a:solidFill>
        </p:spPr>
        <p:txBody>
          <a:bodyPr/>
          <a:lstStyle/>
          <a:p>
            <a:pPr algn="ctr"/>
            <a:r>
              <a:rPr lang="en-US" sz="2000" b="1">
                <a:solidFill>
                  <a:srgbClr val="2563EB"/>
                </a:solidFill>
              </a:rPr>
              <a:t>github.com/dixit1948/Nutrition-Agentic-AI</a:t>
            </a:r>
          </a:p>
        </p:txBody>
      </p:sp>
      <p:sp>
        <p:nvSpPr>
          <p:cNvPr id="100213" name="FilesTitle"/>
          <p:cNvSpPr txBox="1"/>
          <p:nvPr/>
        </p:nvSpPr>
        <p:spPr>
          <a:xfrm>
            <a:off x="360000" y="1188000"/>
            <a:ext cx="5400000" cy="288000"/>
          </a:xfrm>
          <a:prstGeom prst="rect">
            <a:avLst/>
          </a:prstGeom>
          <a:noFill/>
        </p:spPr>
        <p:txBody>
          <a:bodyPr/>
          <a:lstStyle/>
          <a:p>
            <a:r>
              <a:rPr lang="en-US" sz="1600" b="1">
                <a:solidFill>
                  <a:srgbClr val="064E3B"/>
                </a:solidFill>
              </a:rPr>
              <a:t>17 Files Deployed — Complete Project</a:t>
            </a:r>
          </a:p>
        </p:txBody>
      </p:sp>
      <p:sp>
        <p:nvSpPr>
          <p:cNvPr id="100214" name="FileList"/>
          <p:cNvSpPr txBox="1"/>
          <p:nvPr/>
        </p:nvSpPr>
        <p:spPr>
          <a:xfrm>
            <a:off x="360000" y="1548000"/>
            <a:ext cx="5400000" cy="3600000"/>
          </a:xfrm>
          <a:prstGeom prst="rect">
            <a:avLst/>
          </a:prstGeom>
          <a:solidFill>
            <a:srgbClr val="F8FAFC"/>
          </a:solidFill>
        </p:spPr>
        <p:txBody>
          <a:bodyPr/>
          <a:lstStyle/>
          <a:p>
            <a:r>
              <a:rPr lang="en-US" sz="1300">
                <a:solidFill>
                  <a:srgbClr val="1E293B"/>
                </a:solidFill>
                <a:latin typeface="Courier New"/>
                <a:ea typeface="Courier New"/>
              </a:rPr>
              <a:t>app.py            (6.2 KB)  Flask REST API</a:t>
            </a:r>
          </a:p>
          <a:p>
            <a:r>
              <a:rPr lang="en-US" sz="1300">
                <a:solidFill>
                  <a:srgbClr val="1E293B"/>
                </a:solidFill>
                <a:latin typeface="Courier New"/>
                <a:ea typeface="Courier New"/>
              </a:rPr>
              <a:t>agent.py          (14.3 KB) Agentic AI Engine</a:t>
            </a:r>
          </a:p>
          <a:p>
            <a:r>
              <a:rPr lang="en-US" sz="1300">
                <a:solidFill>
                  <a:srgbClr val="1E293B"/>
                </a:solidFill>
                <a:latin typeface="Courier New"/>
                <a:ea typeface="Courier New"/>
              </a:rPr>
              <a:t>granite_client.py (11.3 KB) IBM Granite LLM</a:t>
            </a:r>
          </a:p>
          <a:p>
            <a:r>
              <a:rPr lang="en-US" sz="1300">
                <a:solidFill>
                  <a:srgbClr val="1E293B"/>
                </a:solidFill>
                <a:latin typeface="Courier New"/>
                <a:ea typeface="Courier New"/>
              </a:rPr>
              <a:t>guardrails.py     (7.3 KB)  AI Ethics &amp; Safety</a:t>
            </a:r>
          </a:p>
          <a:p>
            <a:r>
              <a:rPr lang="en-US" sz="1300">
                <a:solidFill>
                  <a:srgbClr val="1E293B"/>
                </a:solidFill>
                <a:latin typeface="Courier New"/>
                <a:ea typeface="Courier New"/>
              </a:rPr>
              <a:t>plan_saver.py     (2.8 KB)  .md File Saver</a:t>
            </a:r>
          </a:p>
          <a:p>
            <a:r>
              <a:rPr lang="en-US" sz="1300">
                <a:solidFill>
                  <a:srgbClr val="1E293B"/>
                </a:solidFill>
                <a:latin typeface="Courier New"/>
                <a:ea typeface="Courier New"/>
              </a:rPr>
              <a:t>requirements.txt  (1.7 KB)  Dependencies</a:t>
            </a:r>
          </a:p>
          <a:p>
            <a:r>
              <a:rPr lang="en-US" sz="1300">
                <a:solidFill>
                  <a:srgbClr val="1E293B"/>
                </a:solidFill>
                <a:latin typeface="Courier New"/>
                <a:ea typeface="Courier New"/>
              </a:rPr>
              <a:t>.env.example      (0.9 KB)  Config Template</a:t>
            </a:r>
          </a:p>
          <a:p>
            <a:r>
              <a:rPr lang="en-US" sz="1300">
                <a:solidFill>
                  <a:srgbClr val="1E293B"/>
                </a:solidFill>
                <a:latin typeface="Courier New"/>
                <a:ea typeface="Courier New"/>
              </a:rPr>
              <a:t>.gitignore        (2.8 KB)  Git Ignore Rules</a:t>
            </a:r>
          </a:p>
          <a:p>
            <a:r>
              <a:rPr lang="en-US" sz="1300">
                <a:solidFill>
                  <a:srgbClr val="1E293B"/>
                </a:solidFill>
                <a:latin typeface="Courier New"/>
                <a:ea typeface="Courier New"/>
              </a:rPr>
              <a:t>LICENSE           (1.1 KB)  MIT License</a:t>
            </a:r>
          </a:p>
          <a:p>
            <a:r>
              <a:rPr lang="en-US" sz="1300">
                <a:solidFill>
                  <a:srgbClr val="1E293B"/>
                </a:solidFill>
                <a:latin typeface="Courier New"/>
                <a:ea typeface="Courier New"/>
              </a:rPr>
              <a:t>README.md         (13.8 KB) Full Documentation</a:t>
            </a:r>
          </a:p>
        </p:txBody>
      </p:sp>
      <p:sp>
        <p:nvSpPr>
          <p:cNvPr id="100215" name="FileList2"/>
          <p:cNvSpPr txBox="1"/>
          <p:nvPr/>
        </p:nvSpPr>
        <p:spPr>
          <a:xfrm>
            <a:off x="360000" y="5220000"/>
            <a:ext cx="5400000" cy="1008000"/>
          </a:xfrm>
          <a:prstGeom prst="rect">
            <a:avLst/>
          </a:prstGeom>
          <a:solidFill>
            <a:srgbClr val="F8FAFC"/>
          </a:solidFill>
        </p:spPr>
        <p:txBody>
          <a:bodyPr/>
          <a:lstStyle/>
          <a:p>
            <a:r>
              <a:rPr lang="en-US" sz="1300">
                <a:solidFill>
                  <a:srgbClr val="1E293B"/>
                </a:solidFill>
                <a:latin typeface="Courier New"/>
                <a:ea typeface="Courier New"/>
              </a:rPr>
              <a:t>static/index.html (17.7 KB) 5-Tab SPA</a:t>
            </a:r>
          </a:p>
          <a:p>
            <a:r>
              <a:rPr lang="en-US" sz="1300">
                <a:solidFill>
                  <a:srgbClr val="1E293B"/>
                </a:solidFill>
                <a:latin typeface="Courier New"/>
                <a:ea typeface="Courier New"/>
              </a:rPr>
              <a:t>static/style.css  (20.4 KB) Responsive CSS</a:t>
            </a:r>
          </a:p>
          <a:p>
            <a:r>
              <a:rPr lang="en-US" sz="1300">
                <a:solidFill>
                  <a:srgbClr val="1E293B"/>
                </a:solidFill>
                <a:latin typeface="Courier New"/>
                <a:ea typeface="Courier New"/>
              </a:rPr>
              <a:t>static/app.js     (13.2 KB) Frontend JS</a:t>
            </a:r>
          </a:p>
          <a:p>
            <a:r>
              <a:rPr lang="en-US" sz="1300">
                <a:solidFill>
                  <a:srgbClr val="1E293B"/>
                </a:solidFill>
                <a:latin typeface="Courier New"/>
                <a:ea typeface="Courier New"/>
              </a:rPr>
              <a:t>run.bat           (7.3 KB)  Windows Launcher</a:t>
            </a:r>
          </a:p>
          <a:p>
            <a:r>
              <a:rPr lang="en-US" sz="1300">
                <a:solidFill>
                  <a:srgbClr val="1E293B"/>
                </a:solidFill>
                <a:latin typeface="Courier New"/>
                <a:ea typeface="Courier New"/>
              </a:rPr>
              <a:t>setup_and_deploy.bat        Full Deploy Script</a:t>
            </a:r>
          </a:p>
          <a:p>
            <a:r>
              <a:rPr lang="en-US" sz="1300">
                <a:solidFill>
                  <a:srgbClr val="1E293B"/>
                </a:solidFill>
                <a:latin typeface="Courier New"/>
                <a:ea typeface="Courier New"/>
              </a:rPr>
              <a:t>deploy_to_github.ps1        GitHub API Pusher</a:t>
            </a:r>
          </a:p>
          <a:p>
            <a:r>
              <a:rPr lang="en-US" sz="1300">
                <a:solidFill>
                  <a:srgbClr val="1E293B"/>
                </a:solidFill>
                <a:latin typeface="Courier New"/>
                <a:ea typeface="Courier New"/>
              </a:rPr>
              <a:t>sample_plan_output.md       Reference Output</a:t>
            </a:r>
          </a:p>
        </p:txBody>
      </p:sp>
      <p:sp>
        <p:nvSpPr>
          <p:cNvPr id="100216" name="DeployTitle"/>
          <p:cNvSpPr txBox="1"/>
          <p:nvPr/>
        </p:nvSpPr>
        <p:spPr>
          <a:xfrm>
            <a:off x="6300000" y="1188000"/>
            <a:ext cx="5400000" cy="288000"/>
          </a:xfrm>
          <a:prstGeom prst="rect">
            <a:avLst/>
          </a:prstGeom>
          <a:noFill/>
        </p:spPr>
        <p:txBody>
          <a:bodyPr/>
          <a:lstStyle/>
          <a:p>
            <a:r>
              <a:rPr lang="en-US" sz="1600" b="1">
                <a:solidFill>
                  <a:srgbClr val="064E3B"/>
                </a:solidFill>
              </a:rPr>
              <a:t>Quick Start (GitHub Clone)</a:t>
            </a:r>
          </a:p>
        </p:txBody>
      </p:sp>
      <p:sp>
        <p:nvSpPr>
          <p:cNvPr id="100217" name="DeploySteps"/>
          <p:cNvSpPr txBox="1"/>
          <p:nvPr/>
        </p:nvSpPr>
        <p:spPr>
          <a:xfrm>
            <a:off x="6300000" y="1548000"/>
            <a:ext cx="5400000" cy="3240000"/>
          </a:xfrm>
          <a:prstGeom prst="rect">
            <a:avLst/>
          </a:prstGeom>
          <a:solidFill>
            <a:srgbClr val="F0FDF4"/>
          </a:solidFill>
        </p:spPr>
        <p:txBody>
          <a:bodyPr/>
          <a:lstStyle/>
          <a:p>
            <a:r>
              <a:rPr lang="en-US" sz="1300">
                <a:solidFill>
                  <a:srgbClr val="1E293B"/>
                </a:solidFill>
                <a:latin typeface="Courier New"/>
                <a:ea typeface="Courier New"/>
              </a:rPr>
              <a:t>1  git clone https://github.com/</a:t>
            </a:r>
          </a:p>
          <a:p>
            <a:r>
              <a:rPr lang="en-US" sz="1300">
                <a:solidFill>
                  <a:srgbClr val="1E293B"/>
                </a:solidFill>
                <a:latin typeface="Courier New"/>
                <a:ea typeface="Courier New"/>
              </a:rPr>
              <a:t>       dixit1948/Nutrition-Agentic-AI.git</a:t>
            </a:r>
          </a:p>
          <a:p>
            <a:endParaRPr lang="en-US" sz="1300">
              <a:solidFill>
                <a:srgbClr val="1E293B"/>
              </a:solidFill>
              <a:latin typeface="Courier New"/>
              <a:ea typeface="Courier New"/>
            </a:endParaRPr>
          </a:p>
          <a:p>
            <a:r>
              <a:rPr lang="en-US" sz="1300">
                <a:solidFill>
                  <a:srgbClr val="1E293B"/>
                </a:solidFill>
                <a:latin typeface="Courier New"/>
                <a:ea typeface="Courier New"/>
              </a:rPr>
              <a:t>2  cd Nutrition-Agentic-AI</a:t>
            </a:r>
          </a:p>
          <a:p>
            <a:endParaRPr lang="en-US" sz="1300">
              <a:solidFill>
                <a:srgbClr val="1E293B"/>
              </a:solidFill>
              <a:latin typeface="Courier New"/>
              <a:ea typeface="Courier New"/>
            </a:endParaRPr>
          </a:p>
          <a:p>
            <a:r>
              <a:rPr lang="en-US" sz="1300">
                <a:solidFill>
                  <a:srgbClr val="1E293B"/>
                </a:solidFill>
                <a:latin typeface="Courier New"/>
                <a:ea typeface="Courier New"/>
              </a:rPr>
              <a:t>3  Double-click  run.bat</a:t>
            </a:r>
          </a:p>
          <a:p>
            <a:r>
              <a:rPr lang="en-US" sz="1300">
                <a:solidFill>
                  <a:srgbClr val="1E293B"/>
                </a:solidFill>
                <a:latin typeface="Courier New"/>
                <a:ea typeface="Courier New"/>
              </a:rPr>
              <a:t>       (auto-installs Python, Git, deps)</a:t>
            </a:r>
          </a:p>
          <a:p>
            <a:endParaRPr lang="en-US" sz="1300">
              <a:solidFill>
                <a:srgbClr val="1E293B"/>
              </a:solidFill>
              <a:latin typeface="Courier New"/>
              <a:ea typeface="Courier New"/>
            </a:endParaRPr>
          </a:p>
          <a:p>
            <a:r>
              <a:rPr lang="en-US" sz="1300">
                <a:solidFill>
                  <a:srgbClr val="1E293B"/>
                </a:solidFill>
                <a:latin typeface="Courier New"/>
                <a:ea typeface="Courier New"/>
              </a:rPr>
              <a:t>4  Browser opens at</a:t>
            </a:r>
          </a:p>
          <a:p>
            <a:r>
              <a:rPr lang="en-US" sz="1300">
                <a:solidFill>
                  <a:srgbClr val="1E293B"/>
                </a:solidFill>
                <a:latin typeface="Courier New"/>
                <a:ea typeface="Courier New"/>
              </a:rPr>
              <a:t>       http://localhost:5000</a:t>
            </a:r>
          </a:p>
          <a:p>
            <a:endParaRPr lang="en-US" sz="1300">
              <a:solidFill>
                <a:srgbClr val="1E293B"/>
              </a:solidFill>
              <a:latin typeface="Courier New"/>
              <a:ea typeface="Courier New"/>
            </a:endParaRPr>
          </a:p>
          <a:p>
            <a:r>
              <a:rPr lang="en-US" sz="1300">
                <a:solidFill>
                  <a:srgbClr val="1E293B"/>
                </a:solidFill>
                <a:latin typeface="Courier New"/>
                <a:ea typeface="Courier New"/>
              </a:rPr>
              <a:t>OR manual:</a:t>
            </a:r>
          </a:p>
          <a:p>
            <a:r>
              <a:rPr lang="en-US" sz="1300">
                <a:solidFill>
                  <a:srgbClr val="1E293B"/>
                </a:solidFill>
                <a:latin typeface="Courier New"/>
                <a:ea typeface="Courier New"/>
              </a:rPr>
              <a:t>    python -m venv venv</a:t>
            </a:r>
          </a:p>
          <a:p>
            <a:r>
              <a:rPr lang="en-US" sz="1300">
                <a:solidFill>
                  <a:srgbClr val="1E293B"/>
                </a:solidFill>
                <a:latin typeface="Courier New"/>
                <a:ea typeface="Courier New"/>
              </a:rPr>
              <a:t>    venv\Scripts\activate</a:t>
            </a:r>
          </a:p>
          <a:p>
            <a:r>
              <a:rPr lang="en-US" sz="1300">
                <a:solidFill>
                  <a:srgbClr val="1E293B"/>
                </a:solidFill>
                <a:latin typeface="Courier New"/>
                <a:ea typeface="Courier New"/>
              </a:rPr>
              <a:t>    pip install -r requirements.txt</a:t>
            </a:r>
          </a:p>
          <a:p>
            <a:r>
              <a:rPr lang="en-US" sz="1300">
                <a:solidFill>
                  <a:srgbClr val="1E293B"/>
                </a:solidFill>
                <a:latin typeface="Courier New"/>
                <a:ea typeface="Courier New"/>
              </a:rPr>
              <a:t>    python app.py</a:t>
            </a:r>
          </a:p>
        </p:txBody>
      </p:sp>
      <p:sp>
        <p:nvSpPr>
          <p:cNvPr id="100218" name="IBMNote"/>
          <p:cNvSpPr txBox="1"/>
          <p:nvPr/>
        </p:nvSpPr>
        <p:spPr>
          <a:xfrm>
            <a:off x="6300000" y="5040000"/>
            <a:ext cx="5400000" cy="1440000"/>
          </a:xfrm>
          <a:prstGeom prst="rect">
            <a:avLst/>
          </a:prstGeom>
          <a:solidFill>
            <a:srgbClr val="EFF6FF"/>
          </a:solidFill>
        </p:spPr>
        <p:txBody>
          <a:bodyPr/>
          <a:lstStyle/>
          <a:p>
            <a:r>
              <a:rPr lang="en-US" sz="1300">
                <a:solidFill>
                  <a:srgbClr val="054ADA"/>
                </a:solidFill>
              </a:rPr>
              <a:t>IBM Granite Config (Optional):</a:t>
            </a:r>
          </a:p>
          <a:p>
            <a:r>
              <a:rPr lang="en-US" sz="1300">
                <a:solidFill>
                  <a:srgbClr val="054ADA"/>
                </a:solidFill>
              </a:rPr>
              <a:t>Copy .env.example to .env</a:t>
            </a:r>
          </a:p>
          <a:p>
            <a:r>
              <a:rPr lang="en-US" sz="1300">
                <a:solidFill>
                  <a:srgbClr val="054ADA"/>
                </a:solidFill>
              </a:rPr>
              <a:t>Add IBM_API_KEY + IBM_PROJECT_ID</a:t>
            </a:r>
          </a:p>
          <a:p>
            <a:r>
              <a:rPr lang="en-US" sz="1300">
                <a:solidFill>
                  <a:srgbClr val="054ADA"/>
                </a:solidFill>
              </a:rPr>
              <a:t>Get at: cloud.ibm.com</a:t>
            </a:r>
          </a:p>
          <a:p>
            <a:endParaRPr lang="en-US" sz="1300">
              <a:solidFill>
                <a:srgbClr val="054ADA"/>
              </a:solidFill>
            </a:endParaRPr>
          </a:p>
          <a:p>
            <a:r>
              <a:rPr lang="en-US" sz="1300">
                <a:solidFill>
                  <a:srgbClr val="054ADA"/>
                </a:solidFill>
              </a:rPr>
              <a:t>Without credentials: DEMO MODE</a:t>
            </a:r>
          </a:p>
          <a:p>
            <a:r>
              <a:rPr lang="en-US" sz="1300">
                <a:solidFill>
                  <a:srgbClr val="054ADA"/>
                </a:solidFill>
              </a:rPr>
              <a:t>(all features fully functional)</a:t>
            </a:r>
          </a:p>
        </p:txBody>
      </p:sp>
      <p:sp>
        <p:nvSpPr>
          <p:cNvPr id="100219"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100220" name="HeaderBar"/>
          <p:cNvSpPr txBox="1"/>
          <p:nvPr/>
        </p:nvSpPr>
        <p:spPr>
          <a:xfrm>
            <a:off x="0" y="0"/>
            <a:ext cx="12193200" cy="576000"/>
          </a:xfrm>
          <a:prstGeom prst="rect">
            <a:avLst/>
          </a:prstGeom>
          <a:solidFill>
            <a:srgbClr val="064E3B"/>
          </a:solidFill>
        </p:spPr>
        <p:txBody>
          <a:bodyPr/>
          <a:lstStyle/>
          <a:p>
            <a:endParaRPr lang="en-US">
              <a:solidFill>
                <a:srgbClr val="064E3B"/>
              </a:solidFill>
            </a:endParaRPr>
          </a:p>
        </p:txBody>
      </p:sp>
      <p:sp>
        <p:nvSpPr>
          <p:cNvPr id="100221" name="SlideTitle"/>
          <p:cNvSpPr txBox="1"/>
          <p:nvPr/>
        </p:nvSpPr>
        <p:spPr>
          <a:xfrm>
            <a:off x="288000" y="72000"/>
            <a:ext cx="11520000" cy="432000"/>
          </a:xfrm>
          <a:prstGeom prst="rect">
            <a:avLst/>
          </a:prstGeom>
          <a:noFill/>
        </p:spPr>
        <p:txBody>
          <a:bodyPr/>
          <a:lstStyle/>
          <a:p>
            <a:r>
              <a:rPr lang="en-US" sz="2600" b="1">
                <a:solidFill>
                  <a:srgbClr val="FFFFFF"/>
                </a:solidFill>
              </a:rPr>
              <a:t>Slide 19: Medical Disclaimer &amp; Responsible AI</a:t>
            </a:r>
          </a:p>
        </p:txBody>
      </p:sp>
      <p:sp>
        <p:nvSpPr>
          <p:cNvPr id="100222" name="DisclTitle"/>
          <p:cNvSpPr txBox="1"/>
          <p:nvPr/>
        </p:nvSpPr>
        <p:spPr>
          <a:xfrm>
            <a:off x="360000" y="720000"/>
            <a:ext cx="11160000" cy="360000"/>
          </a:xfrm>
          <a:prstGeom prst="rect">
            <a:avLst/>
          </a:prstGeom>
          <a:noFill/>
        </p:spPr>
        <p:txBody>
          <a:bodyPr/>
          <a:lstStyle/>
          <a:p>
            <a:pPr algn="ctr"/>
            <a:r>
              <a:rPr lang="en-US" sz="2200" b="1">
                <a:solidFill>
                  <a:srgbClr val="DC2626"/>
                </a:solidFill>
              </a:rPr>
              <a:t>⚠️  Medical Disclaimer</a:t>
            </a:r>
          </a:p>
        </p:txBody>
      </p:sp>
      <p:sp>
        <p:nvSpPr>
          <p:cNvPr id="100223" name="DisclBox"/>
          <p:cNvSpPr txBox="1"/>
          <p:nvPr/>
        </p:nvSpPr>
        <p:spPr>
          <a:xfrm>
            <a:off x="360000" y="1152000"/>
            <a:ext cx="11160000" cy="2700000"/>
          </a:xfrm>
          <a:prstGeom prst="rect">
            <a:avLst/>
          </a:prstGeom>
          <a:solidFill>
            <a:srgbClr val="FEF3C7"/>
          </a:solidFill>
        </p:spPr>
        <p:txBody>
          <a:bodyPr/>
          <a:lstStyle/>
          <a:p>
            <a:r>
              <a:rPr lang="en-US" sz="1400">
                <a:solidFill>
                  <a:srgbClr val="78350F"/>
                </a:solidFill>
              </a:rPr>
              <a:t>This application is powered by IBM Granite AI and provides nutritional information for EDUCATIONAL PURPOSES ONLY.</a:t>
            </a:r>
          </a:p>
          <a:p>
            <a:endParaRPr lang="en-US" sz="1400">
              <a:solidFill>
                <a:srgbClr val="78350F"/>
              </a:solidFill>
            </a:endParaRPr>
          </a:p>
          <a:p>
            <a:r>
              <a:rPr lang="en-US" sz="1400">
                <a:solidFill>
                  <a:srgbClr val="78350F"/>
                </a:solidFill>
              </a:rPr>
              <a:t>It is NOT a substitute for professional medical advice, diagnosis, or treatment.</a:t>
            </a:r>
          </a:p>
          <a:p>
            <a:endParaRPr lang="en-US" sz="1400">
              <a:solidFill>
                <a:srgbClr val="78350F"/>
              </a:solidFill>
            </a:endParaRPr>
          </a:p>
          <a:p>
            <a:r>
              <a:rPr lang="en-US" sz="1400">
                <a:solidFill>
                  <a:srgbClr val="78350F"/>
                </a:solidFill>
              </a:rPr>
              <a:t>• Always consult a qualified physician, registered dietitian, or licensed nutritionist before making significant dietary changes.</a:t>
            </a:r>
          </a:p>
          <a:p>
            <a:r>
              <a:rPr lang="en-US" sz="1400">
                <a:solidFill>
                  <a:srgbClr val="78350F"/>
                </a:solidFill>
              </a:rPr>
              <a:t>• Especially important for individuals with diabetes, hypertension, kidney disease, heart disease, or other medical conditions.</a:t>
            </a:r>
          </a:p>
          <a:p>
            <a:r>
              <a:rPr lang="en-US" sz="1400">
                <a:solidFill>
                  <a:srgbClr val="78350F"/>
                </a:solidFill>
              </a:rPr>
              <a:t>• Pregnant or breastfeeding individuals must consult their healthcare provider.</a:t>
            </a:r>
          </a:p>
          <a:p>
            <a:r>
              <a:rPr lang="en-US" sz="1400">
                <a:solidFill>
                  <a:srgbClr val="78350F"/>
                </a:solidFill>
              </a:rPr>
              <a:t>• Nutritional needs vary by individual — what works for one person may not suit another.</a:t>
            </a:r>
          </a:p>
          <a:p>
            <a:r>
              <a:rPr lang="en-US" sz="1400">
                <a:solidFill>
                  <a:srgbClr val="78350F"/>
                </a:solidFill>
              </a:rPr>
              <a:t>• In case of a MEDICAL EMERGENCY, contact your local emergency services immediately.</a:t>
            </a:r>
          </a:p>
        </p:txBody>
      </p:sp>
      <p:sp>
        <p:nvSpPr>
          <p:cNvPr id="100224" name="RAITitle"/>
          <p:cNvSpPr txBox="1"/>
          <p:nvPr/>
        </p:nvSpPr>
        <p:spPr>
          <a:xfrm>
            <a:off x="360000" y="4032000"/>
            <a:ext cx="11160000" cy="288000"/>
          </a:xfrm>
          <a:prstGeom prst="rect">
            <a:avLst/>
          </a:prstGeom>
          <a:noFill/>
        </p:spPr>
        <p:txBody>
          <a:bodyPr/>
          <a:lstStyle/>
          <a:p>
            <a:r>
              <a:rPr lang="en-US" sz="1700" b="1">
                <a:solidFill>
                  <a:srgbClr val="064E3B"/>
                </a:solidFill>
              </a:rPr>
              <a:t>Responsible AI Principles Implemented</a:t>
            </a:r>
          </a:p>
        </p:txBody>
      </p:sp>
      <p:sp>
        <p:nvSpPr>
          <p:cNvPr id="100225" name="RA1"/>
          <p:cNvSpPr txBox="1"/>
          <p:nvPr/>
        </p:nvSpPr>
        <p:spPr>
          <a:xfrm>
            <a:off x="360000" y="4392000"/>
            <a:ext cx="3420000" cy="1440000"/>
          </a:xfrm>
          <a:prstGeom prst="rect">
            <a:avLst/>
          </a:prstGeom>
          <a:solidFill>
            <a:srgbClr val="ECFDF5"/>
          </a:solidFill>
        </p:spPr>
        <p:txBody>
          <a:bodyPr/>
          <a:lstStyle/>
          <a:p>
            <a:r>
              <a:rPr lang="en-US" sz="1200">
                <a:solidFill>
                  <a:srgbClr val="1E293B"/>
                </a:solidFill>
              </a:rPr>
              <a:t>TRANSPARENCY</a:t>
            </a:r>
          </a:p>
          <a:p>
            <a:r>
              <a:rPr lang="en-US" sz="1200">
                <a:solidFill>
                  <a:srgbClr val="1E293B"/>
                </a:solidFill>
              </a:rPr>
              <a:t>Clearly labeled as AI-generated. Users always know they are interacting with an AI system, not a human expert.</a:t>
            </a:r>
          </a:p>
        </p:txBody>
      </p:sp>
      <p:sp>
        <p:nvSpPr>
          <p:cNvPr id="100226" name="RA2"/>
          <p:cNvSpPr txBox="1"/>
          <p:nvPr/>
        </p:nvSpPr>
        <p:spPr>
          <a:xfrm>
            <a:off x="4320000" y="4392000"/>
            <a:ext cx="3420000" cy="1440000"/>
          </a:xfrm>
          <a:prstGeom prst="rect">
            <a:avLst/>
          </a:prstGeom>
          <a:solidFill>
            <a:srgbClr val="ECFDF5"/>
          </a:solidFill>
        </p:spPr>
        <p:txBody>
          <a:bodyPr/>
          <a:lstStyle/>
          <a:p>
            <a:r>
              <a:rPr lang="en-US" sz="1200">
                <a:solidFill>
                  <a:srgbClr val="1E293B"/>
                </a:solidFill>
              </a:rPr>
              <a:t>PRIVACY</a:t>
            </a:r>
          </a:p>
          <a:p>
            <a:r>
              <a:rPr lang="en-US" sz="1200">
                <a:solidFill>
                  <a:srgbClr val="1E293B"/>
                </a:solidFill>
              </a:rPr>
              <a:t>No PII stored beyond session. Session memory cleared on request. No data sent to third parties beyond IBM watsonx.ai.</a:t>
            </a:r>
          </a:p>
        </p:txBody>
      </p:sp>
      <p:sp>
        <p:nvSpPr>
          <p:cNvPr id="100227" name="RA3"/>
          <p:cNvSpPr txBox="1"/>
          <p:nvPr/>
        </p:nvSpPr>
        <p:spPr>
          <a:xfrm>
            <a:off x="8280000" y="4392000"/>
            <a:ext cx="3600000" cy="1440000"/>
          </a:xfrm>
          <a:prstGeom prst="rect">
            <a:avLst/>
          </a:prstGeom>
          <a:solidFill>
            <a:srgbClr val="ECFDF5"/>
          </a:solidFill>
        </p:spPr>
        <p:txBody>
          <a:bodyPr/>
          <a:lstStyle/>
          <a:p>
            <a:r>
              <a:rPr lang="en-US" sz="1200">
                <a:solidFill>
                  <a:srgbClr val="1E293B"/>
                </a:solidFill>
              </a:rPr>
              <a:t>ACCOUNTABILITY</a:t>
            </a:r>
          </a:p>
          <a:p>
            <a:r>
              <a:rPr lang="en-US" sz="1200">
                <a:solidFill>
                  <a:srgbClr val="1E293B"/>
                </a:solidFill>
              </a:rPr>
              <a:t>All plans saved with full metadata for auditability. Tool used is tagged on every chat response. Medical disclaimer always present.</a:t>
            </a:r>
          </a:p>
        </p:txBody>
      </p:sp>
      <p:sp>
        <p:nvSpPr>
          <p:cNvPr id="100228" name="FootBar"/>
          <p:cNvSpPr txBox="1"/>
          <p:nvPr/>
        </p:nvSpPr>
        <p:spPr>
          <a:xfrm>
            <a:off x="0" y="6408000"/>
            <a:ext cx="12193200" cy="252000"/>
          </a:xfrm>
          <a:prstGeom prst="rect">
            <a:avLst/>
          </a:prstGeom>
          <a:solidFill>
            <a:srgbClr val="064E3B"/>
          </a:solidFill>
        </p:spPr>
        <p:txBody>
          <a:bodyPr/>
          <a:lstStyle/>
          <a:p>
            <a:pPr algn="ctr"/>
            <a:r>
              <a:rPr lang="en-US" sz="1200">
                <a:solidFill>
                  <a:srgbClr val="6EE7B7"/>
                </a:solidFill>
              </a:rPr>
              <a:t>NutriAI — IBM Granite Nutrition Agent</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
        <p:cNvGrpSpPr/>
        <p:nvPr/>
      </p:nvGrpSpPr>
      <p:grpSpPr>
        <a:xfrm>
          <a:off x="0" y="0"/>
          <a:ext cx="0" cy="0"/>
          <a:chOff x="0" y="0"/>
          <a:chExt cx="0" cy="0"/>
        </a:xfrm>
      </p:grpSpPr>
      <p:sp>
        <p:nvSpPr>
          <p:cNvPr id="100229" name="TopAccent"/>
          <p:cNvSpPr txBox="1"/>
          <p:nvPr/>
        </p:nvSpPr>
        <p:spPr>
          <a:xfrm>
            <a:off x="0" y="0"/>
            <a:ext cx="12193200" cy="180000"/>
          </a:xfrm>
          <a:prstGeom prst="rect">
            <a:avLst/>
          </a:prstGeom>
          <a:solidFill>
            <a:srgbClr val="4ADE80"/>
          </a:solidFill>
        </p:spPr>
        <p:txBody>
          <a:bodyPr/>
          <a:lstStyle/>
          <a:p>
            <a:endParaRPr lang="en-US">
              <a:solidFill>
                <a:srgbClr val="4ADE80"/>
              </a:solidFill>
            </a:endParaRPr>
          </a:p>
        </p:txBody>
      </p:sp>
      <p:sp>
        <p:nvSpPr>
          <p:cNvPr id="100230" name="BottomAccent"/>
          <p:cNvSpPr txBox="1"/>
          <p:nvPr/>
        </p:nvSpPr>
        <p:spPr>
          <a:xfrm>
            <a:off x="0" y="6674400"/>
            <a:ext cx="12193200" cy="165600"/>
          </a:xfrm>
          <a:prstGeom prst="rect">
            <a:avLst/>
          </a:prstGeom>
          <a:solidFill>
            <a:srgbClr val="4ADE80"/>
          </a:solidFill>
        </p:spPr>
        <p:txBody>
          <a:bodyPr/>
          <a:lstStyle/>
          <a:p>
            <a:endParaRPr lang="en-US">
              <a:solidFill>
                <a:srgbClr val="4ADE80"/>
              </a:solidFill>
            </a:endParaRPr>
          </a:p>
        </p:txBody>
      </p:sp>
      <p:sp>
        <p:nvSpPr>
          <p:cNvPr id="100231" name="Icon"/>
          <p:cNvSpPr txBox="1"/>
          <p:nvPr/>
        </p:nvSpPr>
        <p:spPr>
          <a:xfrm>
            <a:off x="5040000" y="540000"/>
            <a:ext cx="2160000" cy="1080000"/>
          </a:xfrm>
          <a:prstGeom prst="rect">
            <a:avLst/>
          </a:prstGeom>
          <a:noFill/>
        </p:spPr>
        <p:txBody>
          <a:bodyPr/>
          <a:lstStyle/>
          <a:p>
            <a:pPr algn="ctr"/>
            <a:r>
              <a:rPr lang="en-US" sz="5600">
                <a:solidFill>
                  <a:srgbClr val="FFFFFF"/>
                </a:solidFill>
              </a:rPr>
              <a:t>🎉</a:t>
            </a:r>
          </a:p>
        </p:txBody>
      </p:sp>
      <p:sp>
        <p:nvSpPr>
          <p:cNvPr id="100232" name="Thanks"/>
          <p:cNvSpPr txBox="1"/>
          <p:nvPr/>
        </p:nvSpPr>
        <p:spPr>
          <a:xfrm>
            <a:off x="720000" y="1692000"/>
            <a:ext cx="10800000" cy="900000"/>
          </a:xfrm>
          <a:prstGeom prst="rect">
            <a:avLst/>
          </a:prstGeom>
          <a:noFill/>
        </p:spPr>
        <p:txBody>
          <a:bodyPr/>
          <a:lstStyle/>
          <a:p>
            <a:pPr algn="ctr"/>
            <a:r>
              <a:rPr lang="en-US" sz="5400" b="1">
                <a:solidFill>
                  <a:srgbClr val="86EFAC"/>
                </a:solidFill>
              </a:rPr>
              <a:t>Thank You!</a:t>
            </a:r>
          </a:p>
        </p:txBody>
      </p:sp>
      <p:sp>
        <p:nvSpPr>
          <p:cNvPr id="100233" name="Summary"/>
          <p:cNvSpPr txBox="1"/>
          <p:nvPr/>
        </p:nvSpPr>
        <p:spPr>
          <a:xfrm>
            <a:off x="720000" y="2700000"/>
            <a:ext cx="10800000" cy="540000"/>
          </a:xfrm>
          <a:prstGeom prst="rect">
            <a:avLst/>
          </a:prstGeom>
          <a:noFill/>
        </p:spPr>
        <p:txBody>
          <a:bodyPr/>
          <a:lstStyle/>
          <a:p>
            <a:pPr algn="ctr"/>
            <a:r>
              <a:rPr lang="en-US" sz="2600" b="1">
                <a:solidFill>
                  <a:srgbClr val="A7F3D0"/>
                </a:solidFill>
              </a:rPr>
              <a:t>NutriAI — IBM Granite Nutrition Agent</a:t>
            </a:r>
          </a:p>
        </p:txBody>
      </p:sp>
      <p:sp>
        <p:nvSpPr>
          <p:cNvPr id="100234" name="Bullets"/>
          <p:cNvSpPr txBox="1"/>
          <p:nvPr/>
        </p:nvSpPr>
        <p:spPr>
          <a:xfrm>
            <a:off x="2520000" y="3348000"/>
            <a:ext cx="7200000" cy="2520000"/>
          </a:xfrm>
          <a:prstGeom prst="rect">
            <a:avLst/>
          </a:prstGeom>
          <a:noFill/>
        </p:spPr>
        <p:txBody>
          <a:bodyPr/>
          <a:lstStyle/>
          <a:p>
            <a:pPr algn="ctr"/>
            <a:r>
              <a:rPr lang="en-US" sz="1600">
                <a:solidFill>
                  <a:srgbClr val="D1FAE5"/>
                </a:solidFill>
              </a:rPr>
              <a:t>✅  Agentic AI with 5-phase SDLC loop</a:t>
            </a:r>
          </a:p>
          <a:p>
            <a:pPr algn="ctr"/>
            <a:r>
              <a:rPr lang="en-US" sz="1600">
                <a:solidFill>
                  <a:srgbClr val="D1FAE5"/>
                </a:solidFill>
              </a:rPr>
              <a:t>✅  IBM Granite LLM via watsonx.ai</a:t>
            </a:r>
          </a:p>
          <a:p>
            <a:pPr algn="ctr"/>
            <a:r>
              <a:rPr lang="en-US" sz="1600">
                <a:solidFill>
                  <a:srgbClr val="D1FAE5"/>
                </a:solidFill>
              </a:rPr>
              <a:t>✅  4 Specialized Nutrition Tools</a:t>
            </a:r>
          </a:p>
          <a:p>
            <a:pPr algn="ctr"/>
            <a:r>
              <a:rPr lang="en-US" sz="1600">
                <a:solidFill>
                  <a:srgbClr val="D1FAE5"/>
                </a:solidFill>
              </a:rPr>
              <a:t>✅  AI Ethics, HAM Principles &amp; Guardrails</a:t>
            </a:r>
          </a:p>
          <a:p>
            <a:pPr algn="ctr"/>
            <a:r>
              <a:rPr lang="en-US" sz="1600">
                <a:solidFill>
                  <a:srgbClr val="D1FAE5"/>
                </a:solidFill>
              </a:rPr>
              <a:t>✅  Culturally-aware, medically-mindful plans</a:t>
            </a:r>
          </a:p>
          <a:p>
            <a:pPr algn="ctr"/>
            <a:r>
              <a:rPr lang="en-US" sz="1600">
                <a:solidFill>
                  <a:srgbClr val="D1FAE5"/>
                </a:solidFill>
              </a:rPr>
              <a:t>✅  Plan saved as .md  |  Download anytime</a:t>
            </a:r>
          </a:p>
          <a:p>
            <a:pPr algn="ctr"/>
            <a:r>
              <a:rPr lang="en-US" sz="1600">
                <a:solidFill>
                  <a:srgbClr val="D1FAE5"/>
                </a:solidFill>
              </a:rPr>
              <a:t>✅  Deployed on GitHub</a:t>
            </a:r>
          </a:p>
        </p:txBody>
      </p:sp>
      <p:sp>
        <p:nvSpPr>
          <p:cNvPr id="100235" name="Repo"/>
          <p:cNvSpPr txBox="1"/>
          <p:nvPr/>
        </p:nvSpPr>
        <p:spPr>
          <a:xfrm>
            <a:off x="720000" y="5940000"/>
            <a:ext cx="10800000" cy="360000"/>
          </a:xfrm>
          <a:prstGeom prst="rect">
            <a:avLst/>
          </a:prstGeom>
          <a:noFill/>
        </p:spPr>
        <p:txBody>
          <a:bodyPr/>
          <a:lstStyle/>
          <a:p>
            <a:pPr algn="ctr"/>
            <a:r>
              <a:rPr lang="en-US" sz="1500" b="1">
                <a:solidFill>
                  <a:srgbClr val="4ADE80"/>
                </a:solidFill>
              </a:rPr>
              <a:t>github.com/dixit1948/Nutrition-Agentic-AI</a:t>
            </a:r>
          </a:p>
        </p:txBody>
      </p:sp>
      <p:sp>
        <p:nvSpPr>
          <p:cNvPr id="100236" name="Footer"/>
          <p:cNvSpPr txBox="1"/>
          <p:nvPr/>
        </p:nvSpPr>
        <p:spPr>
          <a:xfrm>
            <a:off x="0" y="6408000"/>
            <a:ext cx="12193200" cy="252000"/>
          </a:xfrm>
          <a:prstGeom prst="rect">
            <a:avLst/>
          </a:prstGeom>
          <a:solidFill>
            <a:srgbClr val="065F46"/>
          </a:solidFill>
        </p:spPr>
        <p:txBody>
          <a:bodyPr/>
          <a:lstStyle/>
          <a:p>
            <a:pPr algn="ctr"/>
            <a:r>
              <a:rPr lang="en-US" sz="1200">
                <a:solidFill>
                  <a:srgbClr val="6EE7B7"/>
                </a:solidFill>
              </a:rPr>
              <a:t>NutriAI — IBM Granite LLM  |  Flask  |  Python  |  HAM Principles  |  Responsible AI</a:t>
            </a:r>
          </a:p>
        </p:txBody>
      </p:sp>
    </p:spTree>
  </p:cSld>
  <p:clrMapOvr>
    <a:masterClrMapping/>
  </p:clrMapOvr>
  <mc:AlternateContent xmlns:mc="http://schemas.openxmlformats.org/markup-compatibility/2006">
    <mc:Choice xmlns:p14="http://schemas.microsoft.com/office/powerpoint/2010/main" Requires="p14">
      <p:transition spd="slow" p14:dur="2000" advTm="7500"/>
    </mc:Choice>
    <mc:Fallback>
      <p:transition spd="slow" advTm="750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4366</Words>
  <Application>Microsoft Office PowerPoint</Application>
  <PresentationFormat>Widescreen</PresentationFormat>
  <Paragraphs>512</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OfficeCLI</dc:creator>
  <cp:lastModifiedBy>STUDENTS</cp:lastModifiedBy>
  <cp:revision>1</cp:revision>
  <dcterms:created xsi:type="dcterms:W3CDTF">2026-10-13T08:40:41Z</dcterms:created>
  <dcterms:modified xsi:type="dcterms:W3CDTF">2026-10-13T08:50:56Z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1.0.157</vt:lpwstr>
  </property>
  <property fmtid="{D5CDD505-2E9C-101B-9397-08002B2CF9AE}" pid="3" name="OfficeCLI.LastModified">
    <vt:lpwstr>2026-10-13T08:43:49Z</vt:lpwstr>
  </property>
</Properties>
</file>